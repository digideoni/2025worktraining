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732" autoAdjust="0"/>
  </p:normalViewPr>
  <p:slideViewPr>
    <p:cSldViewPr snapToGrid="0" snapToObjects="1">
      <p:cViewPr varScale="1">
        <p:scale>
          <a:sx n="63" d="100"/>
          <a:sy n="63" d="100"/>
        </p:scale>
        <p:origin x="2026"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6CAD2-46F3-4E81-96CB-4913E1186E6C}" type="datetimeFigureOut">
              <a:rPr lang="en-PH" smtClean="0"/>
              <a:t>May 2, 2025</a:t>
            </a:fld>
            <a:endParaRPr lang="en-P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BDE35DF-49FC-4C2B-B78F-3A657BDDE401}" type="slidenum">
              <a:rPr lang="en-PH" smtClean="0"/>
              <a:t>‹#›</a:t>
            </a:fld>
            <a:endParaRPr lang="en-PH"/>
          </a:p>
        </p:txBody>
      </p:sp>
    </p:spTree>
    <p:extLst>
      <p:ext uri="{BB962C8B-B14F-4D97-AF65-F5344CB8AC3E}">
        <p14:creationId xmlns:p14="http://schemas.microsoft.com/office/powerpoint/2010/main" val="5481540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1</a:t>
            </a:fld>
            <a:endParaRPr lang="en-PH"/>
          </a:p>
        </p:txBody>
      </p:sp>
    </p:spTree>
    <p:extLst>
      <p:ext uri="{BB962C8B-B14F-4D97-AF65-F5344CB8AC3E}">
        <p14:creationId xmlns:p14="http://schemas.microsoft.com/office/powerpoint/2010/main" val="29626335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"Welcome everyone. Let's start with why Git matters. In remediation projects, we often have multiple stakeholders making changes to reports, SQL scripts, and documentation. Git helps track every change — who made it, when, and why — which helps with collaboration and audit trails."</a:t>
            </a:r>
          </a:p>
        </p:txBody>
      </p:sp>
      <p:sp>
        <p:nvSpPr>
          <p:cNvPr id="4" name="Slide Number Placeholder 3"/>
          <p:cNvSpPr>
            <a:spLocks noGrp="1"/>
          </p:cNvSpPr>
          <p:nvPr>
            <p:ph type="sldNum" sz="quarter" idx="5"/>
          </p:nvPr>
        </p:nvSpPr>
        <p:spPr/>
        <p:txBody>
          <a:bodyPr/>
          <a:lstStyle/>
          <a:p>
            <a:fld id="{1BDE35DF-49FC-4C2B-B78F-3A657BDDE401}" type="slidenum">
              <a:rPr lang="en-PH" smtClean="0"/>
              <a:t>2</a:t>
            </a:fld>
            <a:endParaRPr lang="en-PH"/>
          </a:p>
        </p:txBody>
      </p:sp>
    </p:spTree>
    <p:extLst>
      <p:ext uri="{BB962C8B-B14F-4D97-AF65-F5344CB8AC3E}">
        <p14:creationId xmlns:p14="http://schemas.microsoft.com/office/powerpoint/2010/main" val="1542762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Git repository is just a folder that Git is watching. Commits are like save points with messages. Branches let us work independently. Remote is the version stored online, and local is what's on your laptop."</a:t>
            </a:r>
          </a:p>
        </p:txBody>
      </p:sp>
      <p:sp>
        <p:nvSpPr>
          <p:cNvPr id="4" name="Slide Number Placeholder 3"/>
          <p:cNvSpPr>
            <a:spLocks noGrp="1"/>
          </p:cNvSpPr>
          <p:nvPr>
            <p:ph type="sldNum" sz="quarter" idx="5"/>
          </p:nvPr>
        </p:nvSpPr>
        <p:spPr/>
        <p:txBody>
          <a:bodyPr/>
          <a:lstStyle/>
          <a:p>
            <a:fld id="{1BDE35DF-49FC-4C2B-B78F-3A657BDDE401}" type="slidenum">
              <a:rPr lang="en-PH" smtClean="0"/>
              <a:t>3</a:t>
            </a:fld>
            <a:endParaRPr lang="en-PH"/>
          </a:p>
        </p:txBody>
      </p:sp>
    </p:spTree>
    <p:extLst>
      <p:ext uri="{BB962C8B-B14F-4D97-AF65-F5344CB8AC3E}">
        <p14:creationId xmlns:p14="http://schemas.microsoft.com/office/powerpoint/2010/main" val="13668930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"Think of Git as the engine that powers version control. GitHub is the garage where we keep our projects and collaborate. We use Git locally, and sync with GitHub to share."</a:t>
            </a:r>
          </a:p>
        </p:txBody>
      </p:sp>
      <p:sp>
        <p:nvSpPr>
          <p:cNvPr id="4" name="Slide Number Placeholder 3"/>
          <p:cNvSpPr>
            <a:spLocks noGrp="1"/>
          </p:cNvSpPr>
          <p:nvPr>
            <p:ph type="sldNum" sz="quarter" idx="5"/>
          </p:nvPr>
        </p:nvSpPr>
        <p:spPr/>
        <p:txBody>
          <a:bodyPr/>
          <a:lstStyle/>
          <a:p>
            <a:fld id="{1BDE35DF-49FC-4C2B-B78F-3A657BDDE401}" type="slidenum">
              <a:rPr lang="en-PH" smtClean="0"/>
              <a:t>4</a:t>
            </a:fld>
            <a:endParaRPr lang="en-PH"/>
          </a:p>
        </p:txBody>
      </p:sp>
    </p:spTree>
    <p:extLst>
      <p:ext uri="{BB962C8B-B14F-4D97-AF65-F5344CB8AC3E}">
        <p14:creationId xmlns:p14="http://schemas.microsoft.com/office/powerpoint/2010/main" val="30198816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doing anything, configure Git with your name and email. Every change you make will be recorded with this identity, which is critical in team environments.“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Set your identity for commits</a:t>
            </a:r>
          </a:p>
        </p:txBody>
      </p:sp>
      <p:sp>
        <p:nvSpPr>
          <p:cNvPr id="4" name="Slide Number Placeholder 3"/>
          <p:cNvSpPr>
            <a:spLocks noGrp="1"/>
          </p:cNvSpPr>
          <p:nvPr>
            <p:ph type="sldNum" sz="quarter" idx="5"/>
          </p:nvPr>
        </p:nvSpPr>
        <p:spPr/>
        <p:txBody>
          <a:bodyPr/>
          <a:lstStyle/>
          <a:p>
            <a:fld id="{1BDE35DF-49FC-4C2B-B78F-3A657BDDE401}" type="slidenum">
              <a:rPr lang="en-PH" smtClean="0"/>
              <a:t>5</a:t>
            </a:fld>
            <a:endParaRPr lang="en-PH"/>
          </a:p>
        </p:txBody>
      </p:sp>
    </p:spTree>
    <p:extLst>
      <p:ext uri="{BB962C8B-B14F-4D97-AF65-F5344CB8AC3E}">
        <p14:creationId xmlns:p14="http://schemas.microsoft.com/office/powerpoint/2010/main" val="2795872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make a folder for our demo. The git </a:t>
            </a:r>
            <a:r>
              <a:rPr lang="en-US" dirty="0" err="1"/>
              <a:t>init</a:t>
            </a:r>
            <a:r>
              <a:rPr lang="en-US" dirty="0"/>
              <a:t> command tells Git to start tracking this folder — now it’s a repository.“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Create a new Git repo in a folder</a:t>
            </a:r>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6</a:t>
            </a:fld>
            <a:endParaRPr lang="en-PH"/>
          </a:p>
        </p:txBody>
      </p:sp>
    </p:spTree>
    <p:extLst>
      <p:ext uri="{BB962C8B-B14F-4D97-AF65-F5344CB8AC3E}">
        <p14:creationId xmlns:p14="http://schemas.microsoft.com/office/powerpoint/2010/main" val="520186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create a file, check its status, and then stage it for commit. A commit is like a snapshot. The message helps others understand what changed.“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Stage and save changes to history</a:t>
            </a:r>
          </a:p>
        </p:txBody>
      </p:sp>
      <p:sp>
        <p:nvSpPr>
          <p:cNvPr id="4" name="Slide Number Placeholder 3"/>
          <p:cNvSpPr>
            <a:spLocks noGrp="1"/>
          </p:cNvSpPr>
          <p:nvPr>
            <p:ph type="sldNum" sz="quarter" idx="5"/>
          </p:nvPr>
        </p:nvSpPr>
        <p:spPr/>
        <p:txBody>
          <a:bodyPr/>
          <a:lstStyle/>
          <a:p>
            <a:fld id="{1BDE35DF-49FC-4C2B-B78F-3A657BDDE401}" type="slidenum">
              <a:rPr lang="en-PH" smtClean="0"/>
              <a:t>7</a:t>
            </a:fld>
            <a:endParaRPr lang="en-PH"/>
          </a:p>
        </p:txBody>
      </p:sp>
    </p:spTree>
    <p:extLst>
      <p:ext uri="{BB962C8B-B14F-4D97-AF65-F5344CB8AC3E}">
        <p14:creationId xmlns:p14="http://schemas.microsoft.com/office/powerpoint/2010/main" val="37043390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pretend we added findings to our report. We add and commit again. This builds up a clear history of changes over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Make updates and record them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8</a:t>
            </a:fld>
            <a:endParaRPr lang="en-PH"/>
          </a:p>
        </p:txBody>
      </p:sp>
    </p:spTree>
    <p:extLst>
      <p:ext uri="{BB962C8B-B14F-4D97-AF65-F5344CB8AC3E}">
        <p14:creationId xmlns:p14="http://schemas.microsoft.com/office/powerpoint/2010/main" val="4062054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git log lets you view every commit made. You’ll see who made the change, when, and what the message was. This is useful for backtracking and reviews."</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See all past commits and messages</a:t>
            </a:r>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9</a:t>
            </a:fld>
            <a:endParaRPr lang="en-PH"/>
          </a:p>
        </p:txBody>
      </p:sp>
    </p:spTree>
    <p:extLst>
      <p:ext uri="{BB962C8B-B14F-4D97-AF65-F5344CB8AC3E}">
        <p14:creationId xmlns:p14="http://schemas.microsoft.com/office/powerpoint/2010/main" val="3601231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"Branches let you isolate work. You can add a new section like 'root cause' without touching the main version. This is safe and encourages experimentation."</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Create separate path for a task or idea</a:t>
            </a:r>
          </a:p>
        </p:txBody>
      </p:sp>
      <p:sp>
        <p:nvSpPr>
          <p:cNvPr id="4" name="Slide Number Placeholder 3"/>
          <p:cNvSpPr>
            <a:spLocks noGrp="1"/>
          </p:cNvSpPr>
          <p:nvPr>
            <p:ph type="sldNum" sz="quarter" idx="5"/>
          </p:nvPr>
        </p:nvSpPr>
        <p:spPr/>
        <p:txBody>
          <a:bodyPr/>
          <a:lstStyle/>
          <a:p>
            <a:fld id="{1BDE35DF-49FC-4C2B-B78F-3A657BDDE401}" type="slidenum">
              <a:rPr lang="en-PH" smtClean="0"/>
              <a:t>10</a:t>
            </a:fld>
            <a:endParaRPr lang="en-PH"/>
          </a:p>
        </p:txBody>
      </p:sp>
    </p:spTree>
    <p:extLst>
      <p:ext uri="{BB962C8B-B14F-4D97-AF65-F5344CB8AC3E}">
        <p14:creationId xmlns:p14="http://schemas.microsoft.com/office/powerpoint/2010/main" val="3130303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"Once you're done with your branch, you merge it back. This integrates your new work into the main branch."</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Combine changes back into main line</a:t>
            </a:r>
          </a:p>
        </p:txBody>
      </p:sp>
      <p:sp>
        <p:nvSpPr>
          <p:cNvPr id="4" name="Slide Number Placeholder 3"/>
          <p:cNvSpPr>
            <a:spLocks noGrp="1"/>
          </p:cNvSpPr>
          <p:nvPr>
            <p:ph type="sldNum" sz="quarter" idx="5"/>
          </p:nvPr>
        </p:nvSpPr>
        <p:spPr/>
        <p:txBody>
          <a:bodyPr/>
          <a:lstStyle/>
          <a:p>
            <a:fld id="{1BDE35DF-49FC-4C2B-B78F-3A657BDDE401}" type="slidenum">
              <a:rPr lang="en-PH" smtClean="0"/>
              <a:t>11</a:t>
            </a:fld>
            <a:endParaRPr lang="en-PH"/>
          </a:p>
        </p:txBody>
      </p:sp>
    </p:spTree>
    <p:extLst>
      <p:ext uri="{BB962C8B-B14F-4D97-AF65-F5344CB8AC3E}">
        <p14:creationId xmlns:p14="http://schemas.microsoft.com/office/powerpoint/2010/main" val="22637924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how you share your work. Add a remote pointing to GitHub, rename your branch if needed, and push it. Now others can see and collaborate."</a:t>
            </a:r>
          </a:p>
          <a:p>
            <a:endParaRPr lang="en-PH"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Push your repo to the cloud (GitHub)</a:t>
            </a:r>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12</a:t>
            </a:fld>
            <a:endParaRPr lang="en-PH"/>
          </a:p>
        </p:txBody>
      </p:sp>
    </p:spTree>
    <p:extLst>
      <p:ext uri="{BB962C8B-B14F-4D97-AF65-F5344CB8AC3E}">
        <p14:creationId xmlns:p14="http://schemas.microsoft.com/office/powerpoint/2010/main" val="13899730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someone already has a repo on GitHub, you can clone it to get a copy. This is usually how teams start working on shared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Copy a repo from GitHub to your machine</a:t>
            </a:r>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13</a:t>
            </a:fld>
            <a:endParaRPr lang="en-PH"/>
          </a:p>
        </p:txBody>
      </p:sp>
    </p:spTree>
    <p:extLst>
      <p:ext uri="{BB962C8B-B14F-4D97-AF65-F5344CB8AC3E}">
        <p14:creationId xmlns:p14="http://schemas.microsoft.com/office/powerpoint/2010/main" val="3505751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"Changes start locally. You commit locally, and then push to the remote GitHub repo. Remote helps with collaboration and backup."</a:t>
            </a:r>
          </a:p>
          <a:p>
            <a:endParaRPr lang="en-PH" dirty="0"/>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14</a:t>
            </a:fld>
            <a:endParaRPr lang="en-PH"/>
          </a:p>
        </p:txBody>
      </p:sp>
    </p:spTree>
    <p:extLst>
      <p:ext uri="{BB962C8B-B14F-4D97-AF65-F5344CB8AC3E}">
        <p14:creationId xmlns:p14="http://schemas.microsoft.com/office/powerpoint/2010/main" val="2752407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"Mistakes happen. You can restore a file to its previous state, or undo a commit if needed. Don’t worry — Git is very forgiving.“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Revert working files or last commit</a:t>
            </a:r>
          </a:p>
          <a:p>
            <a:endParaRPr lang="en-PH" dirty="0"/>
          </a:p>
        </p:txBody>
      </p:sp>
      <p:sp>
        <p:nvSpPr>
          <p:cNvPr id="4" name="Slide Number Placeholder 3"/>
          <p:cNvSpPr>
            <a:spLocks noGrp="1"/>
          </p:cNvSpPr>
          <p:nvPr>
            <p:ph type="sldNum" sz="quarter" idx="5"/>
          </p:nvPr>
        </p:nvSpPr>
        <p:spPr/>
        <p:txBody>
          <a:bodyPr/>
          <a:lstStyle/>
          <a:p>
            <a:fld id="{1BDE35DF-49FC-4C2B-B78F-3A657BDDE401}" type="slidenum">
              <a:rPr lang="en-PH" smtClean="0"/>
              <a:t>15</a:t>
            </a:fld>
            <a:endParaRPr lang="en-PH"/>
          </a:p>
        </p:txBody>
      </p:sp>
    </p:spTree>
    <p:extLst>
      <p:ext uri="{BB962C8B-B14F-4D97-AF65-F5344CB8AC3E}">
        <p14:creationId xmlns:p14="http://schemas.microsoft.com/office/powerpoint/2010/main" val="423653191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6726063"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33787" y="4243845"/>
            <a:ext cx="2307831" cy="276940"/>
          </a:xfrm>
          <a:prstGeom prst="rect">
            <a:avLst/>
          </a:prstGeom>
        </p:spPr>
      </p:pic>
      <p:sp>
        <p:nvSpPr>
          <p:cNvPr id="9" name="Rectangle 8"/>
          <p:cNvSpPr/>
          <p:nvPr/>
        </p:nvSpPr>
        <p:spPr bwMode="ltGray">
          <a:xfrm>
            <a:off x="0" y="2590078"/>
            <a:ext cx="6726064"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6833787" y="2590078"/>
            <a:ext cx="2307832"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510242" y="2733709"/>
            <a:ext cx="6069268" cy="1373070"/>
          </a:xfrm>
        </p:spPr>
        <p:txBody>
          <a:bodyPr anchor="b">
            <a:noAutofit/>
          </a:bodyPr>
          <a:lstStyle>
            <a:lvl1pPr algn="r">
              <a:defRPr sz="4800"/>
            </a:lvl1pPr>
          </a:lstStyle>
          <a:p>
            <a:r>
              <a:rPr lang="en-US"/>
              <a:t>Click to edit Master title style</a:t>
            </a:r>
            <a:endParaRPr lang="en-US" dirty="0"/>
          </a:p>
        </p:txBody>
      </p:sp>
      <p:sp>
        <p:nvSpPr>
          <p:cNvPr id="3" name="Subtitle 2"/>
          <p:cNvSpPr>
            <a:spLocks noGrp="1"/>
          </p:cNvSpPr>
          <p:nvPr>
            <p:ph type="subTitle" idx="1"/>
          </p:nvPr>
        </p:nvSpPr>
        <p:spPr>
          <a:xfrm>
            <a:off x="510241" y="4394040"/>
            <a:ext cx="6108101"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4555655" y="5936188"/>
            <a:ext cx="2057400" cy="365125"/>
          </a:xfrm>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a:xfrm>
            <a:off x="533401" y="5936189"/>
            <a:ext cx="4021666" cy="365125"/>
          </a:xfrm>
        </p:spPr>
        <p:txBody>
          <a:bodyPr/>
          <a:lstStyle/>
          <a:p>
            <a:endParaRPr lang="en-US"/>
          </a:p>
        </p:txBody>
      </p:sp>
      <p:sp>
        <p:nvSpPr>
          <p:cNvPr id="6" name="Slide Number Placeholder 5"/>
          <p:cNvSpPr>
            <a:spLocks noGrp="1"/>
          </p:cNvSpPr>
          <p:nvPr>
            <p:ph type="sldNum" sz="quarter" idx="12"/>
          </p:nvPr>
        </p:nvSpPr>
        <p:spPr>
          <a:xfrm>
            <a:off x="7010399" y="2750337"/>
            <a:ext cx="1370293" cy="1356442"/>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165217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27" name="Group 26"/>
          <p:cNvGrpSpPr/>
          <p:nvPr/>
        </p:nvGrpSpPr>
        <p:grpSpPr>
          <a:xfrm>
            <a:off x="0" y="609600"/>
            <a:ext cx="9161969" cy="1677035"/>
            <a:chOff x="0" y="2895600"/>
            <a:chExt cx="9161969" cy="1677035"/>
          </a:xfrm>
        </p:grpSpPr>
        <p:pic>
          <p:nvPicPr>
            <p:cNvPr id="28" name="Picture 27"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9" name="Picture 28"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30" name="Rectangle 29"/>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1" name="Rectangle 30"/>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90915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grpSp>
        <p:nvGrpSpPr>
          <p:cNvPr id="18" name="Group 17"/>
          <p:cNvGrpSpPr/>
          <p:nvPr/>
        </p:nvGrpSpPr>
        <p:grpSpPr>
          <a:xfrm>
            <a:off x="0" y="2728432"/>
            <a:ext cx="9161969" cy="1677035"/>
            <a:chOff x="0" y="2895600"/>
            <a:chExt cx="9161969" cy="1677035"/>
          </a:xfrm>
        </p:grpSpPr>
        <p:pic>
          <p:nvPicPr>
            <p:cNvPr id="19" name="Picture 18"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0" name="Picture 19"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1" name="Rectangle 20"/>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2" name="Rectangle 21"/>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9" y="2869895"/>
            <a:ext cx="688915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531639" y="4232172"/>
            <a:ext cx="688915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5365810" y="5936188"/>
            <a:ext cx="2057400" cy="365125"/>
          </a:xfrm>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a:xfrm>
            <a:off x="533400" y="5936189"/>
            <a:ext cx="4834673" cy="365125"/>
          </a:xfrm>
        </p:spPr>
        <p:txBody>
          <a:bodyPr/>
          <a:lstStyle/>
          <a:p>
            <a:endParaRPr lang="en-US"/>
          </a:p>
        </p:txBody>
      </p:sp>
      <p:sp>
        <p:nvSpPr>
          <p:cNvPr id="6" name="Slide Number Placeholder 5"/>
          <p:cNvSpPr>
            <a:spLocks noGrp="1"/>
          </p:cNvSpPr>
          <p:nvPr>
            <p:ph type="sldNum" sz="quarter" idx="12"/>
          </p:nvPr>
        </p:nvSpPr>
        <p:spPr>
          <a:xfrm>
            <a:off x="7856438" y="2869896"/>
            <a:ext cx="1149836" cy="1090789"/>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5622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grpSp>
        <p:nvGrpSpPr>
          <p:cNvPr id="17" name="Group 16"/>
          <p:cNvGrpSpPr/>
          <p:nvPr/>
        </p:nvGrpSpPr>
        <p:grpSpPr>
          <a:xfrm>
            <a:off x="0" y="609600"/>
            <a:ext cx="9161969" cy="1677035"/>
            <a:chOff x="0" y="2895600"/>
            <a:chExt cx="9161969" cy="1677035"/>
          </a:xfrm>
        </p:grpSpPr>
        <p:pic>
          <p:nvPicPr>
            <p:cNvPr id="18" name="Picture 17"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19" name="Picture 18"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0" name="Rectangle 19"/>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3400" y="753228"/>
            <a:ext cx="6887390" cy="1080938"/>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33400" y="2336873"/>
            <a:ext cx="3357899"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061128" y="2336873"/>
            <a:ext cx="3359661"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721094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grpSp>
        <p:nvGrpSpPr>
          <p:cNvPr id="28" name="Group 27"/>
          <p:cNvGrpSpPr/>
          <p:nvPr/>
        </p:nvGrpSpPr>
        <p:grpSpPr>
          <a:xfrm>
            <a:off x="0" y="609600"/>
            <a:ext cx="9161969" cy="1677035"/>
            <a:chOff x="0" y="2895600"/>
            <a:chExt cx="9161969" cy="1677035"/>
          </a:xfrm>
        </p:grpSpPr>
        <p:pic>
          <p:nvPicPr>
            <p:cNvPr id="29" name="Picture 28"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30" name="Picture 29"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31" name="Rectangle 30"/>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2" name="Rectangle 31"/>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9" y="753230"/>
            <a:ext cx="6896534"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760988" y="2336874"/>
            <a:ext cx="3145080"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31638" y="3030009"/>
            <a:ext cx="336704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282646" y="2336873"/>
            <a:ext cx="3145527"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061129" y="3030009"/>
            <a:ext cx="3367044"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5/2/2025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3922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grpSp>
        <p:nvGrpSpPr>
          <p:cNvPr id="15" name="Group 14"/>
          <p:cNvGrpSpPr/>
          <p:nvPr/>
        </p:nvGrpSpPr>
        <p:grpSpPr>
          <a:xfrm>
            <a:off x="0" y="609600"/>
            <a:ext cx="9161969" cy="1677035"/>
            <a:chOff x="0" y="2895600"/>
            <a:chExt cx="9161969" cy="1677035"/>
          </a:xfrm>
        </p:grpSpPr>
        <p:pic>
          <p:nvPicPr>
            <p:cNvPr id="16" name="Picture 15"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17" name="Picture 16"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18" name="Rectangle 17"/>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9" name="Rectangle 18"/>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5/2/2025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32061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12" name="Picture 11" descr="HD-ShadowShort.png"/>
          <p:cNvPicPr>
            <a:picLocks noChangeAspect="1"/>
          </p:cNvPicPr>
          <p:nvPr/>
        </p:nvPicPr>
        <p:blipFill rotWithShape="1">
          <a:blip r:embed="rId2">
            <a:extLst>
              <a:ext uri="{28A0092B-C50C-407E-A947-70E740481C1C}">
                <a14:useLocalDpi xmlns:a14="http://schemas.microsoft.com/office/drawing/2010/main" val="0"/>
              </a:ext>
            </a:extLst>
          </a:blip>
          <a:srcRect r="9871"/>
          <a:stretch/>
        </p:blipFill>
        <p:spPr>
          <a:xfrm>
            <a:off x="7717217" y="1973262"/>
            <a:ext cx="1444752" cy="144270"/>
          </a:xfrm>
          <a:prstGeom prst="rect">
            <a:avLst/>
          </a:prstGeom>
        </p:spPr>
      </p:pic>
      <p:sp>
        <p:nvSpPr>
          <p:cNvPr id="14" name="Rectangle 13"/>
          <p:cNvSpPr/>
          <p:nvPr/>
        </p:nvSpPr>
        <p:spPr>
          <a:xfrm>
            <a:off x="7710769" y="609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5BCAD085-E8A6-8845-BD4E-CB4CCA059FC4}" type="datetimeFigureOut">
              <a:rPr lang="en-US" smtClean="0"/>
              <a:t>5/2/2025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9418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7" name="Group 16"/>
          <p:cNvGrpSpPr/>
          <p:nvPr/>
        </p:nvGrpSpPr>
        <p:grpSpPr>
          <a:xfrm>
            <a:off x="0" y="609600"/>
            <a:ext cx="9161969" cy="1677035"/>
            <a:chOff x="0" y="2895600"/>
            <a:chExt cx="9161969" cy="1677035"/>
          </a:xfrm>
        </p:grpSpPr>
        <p:pic>
          <p:nvPicPr>
            <p:cNvPr id="18" name="Picture 17"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19" name="Picture 18"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0" name="Rectangle 19"/>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9" y="753227"/>
            <a:ext cx="6896534"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3514385" y="2336874"/>
            <a:ext cx="3913788"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33401" y="2336873"/>
            <a:ext cx="2796240"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039210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17" name="Group 16"/>
          <p:cNvGrpSpPr/>
          <p:nvPr/>
        </p:nvGrpSpPr>
        <p:grpSpPr>
          <a:xfrm>
            <a:off x="0" y="609600"/>
            <a:ext cx="9161969" cy="1677035"/>
            <a:chOff x="0" y="2895600"/>
            <a:chExt cx="9161969" cy="1677035"/>
          </a:xfrm>
        </p:grpSpPr>
        <p:pic>
          <p:nvPicPr>
            <p:cNvPr id="18" name="Picture 17"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19" name="Picture 18"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0" name="Rectangle 19"/>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9" y="753228"/>
            <a:ext cx="6896534"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510956" y="2336874"/>
            <a:ext cx="3917217"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531638" y="2336874"/>
            <a:ext cx="2798487"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2557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20" name="Group 19"/>
          <p:cNvGrpSpPr/>
          <p:nvPr/>
        </p:nvGrpSpPr>
        <p:grpSpPr>
          <a:xfrm>
            <a:off x="0" y="4572000"/>
            <a:ext cx="9161969" cy="1677035"/>
            <a:chOff x="0" y="2895600"/>
            <a:chExt cx="9161969" cy="1677035"/>
          </a:xfrm>
        </p:grpSpPr>
        <p:pic>
          <p:nvPicPr>
            <p:cNvPr id="24" name="Picture 23"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5" name="Picture 24"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6" name="Rectangle 25"/>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3403" y="4711617"/>
            <a:ext cx="6894770" cy="544482"/>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31639" y="609598"/>
            <a:ext cx="6896534"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533401" y="5256098"/>
            <a:ext cx="6894772" cy="547819"/>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6438" y="4711310"/>
            <a:ext cx="1149836" cy="1090789"/>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41549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grpSp>
        <p:nvGrpSpPr>
          <p:cNvPr id="21" name="Group 20"/>
          <p:cNvGrpSpPr/>
          <p:nvPr/>
        </p:nvGrpSpPr>
        <p:grpSpPr>
          <a:xfrm>
            <a:off x="0" y="4572000"/>
            <a:ext cx="9161969" cy="1677035"/>
            <a:chOff x="0" y="2895600"/>
            <a:chExt cx="9161969" cy="1677035"/>
          </a:xfrm>
        </p:grpSpPr>
        <p:pic>
          <p:nvPicPr>
            <p:cNvPr id="22" name="Picture 21"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3" name="Picture 22"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4" name="Rectangle 23"/>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24255" y="609597"/>
            <a:ext cx="6896534"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531638" y="4710340"/>
            <a:ext cx="6889151" cy="1101764"/>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6438" y="4711616"/>
            <a:ext cx="1149836" cy="1090789"/>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45870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grpSp>
        <p:nvGrpSpPr>
          <p:cNvPr id="29" name="Group 28"/>
          <p:cNvGrpSpPr/>
          <p:nvPr/>
        </p:nvGrpSpPr>
        <p:grpSpPr>
          <a:xfrm>
            <a:off x="0" y="4572000"/>
            <a:ext cx="9161969" cy="1677035"/>
            <a:chOff x="0" y="2895600"/>
            <a:chExt cx="9161969" cy="1677035"/>
          </a:xfrm>
        </p:grpSpPr>
        <p:pic>
          <p:nvPicPr>
            <p:cNvPr id="30" name="Picture 29"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31" name="Picture 30"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32" name="Rectangle 31"/>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3" name="Rectangle 32"/>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767921" y="616983"/>
            <a:ext cx="642514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989438" y="3660763"/>
            <a:ext cx="5987731"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531638" y="4710340"/>
            <a:ext cx="6903919" cy="1101764"/>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6438" y="4709926"/>
            <a:ext cx="1149836" cy="1090789"/>
          </a:xfrm>
        </p:spPr>
        <p:txBody>
          <a:bodyPr/>
          <a:lstStyle/>
          <a:p>
            <a:fld id="{C1FF6DA9-008F-8B48-92A6-B652298478BF}" type="slidenum">
              <a:rPr lang="en-US" smtClean="0"/>
              <a:t>‹#›</a:t>
            </a:fld>
            <a:endParaRPr lang="en-US"/>
          </a:p>
        </p:txBody>
      </p:sp>
      <p:sp>
        <p:nvSpPr>
          <p:cNvPr id="27" name="TextBox 26"/>
          <p:cNvSpPr txBox="1"/>
          <p:nvPr/>
        </p:nvSpPr>
        <p:spPr>
          <a:xfrm>
            <a:off x="270932" y="748116"/>
            <a:ext cx="5334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28" name="TextBox 27"/>
          <p:cNvSpPr txBox="1"/>
          <p:nvPr/>
        </p:nvSpPr>
        <p:spPr>
          <a:xfrm>
            <a:off x="6967191" y="2998573"/>
            <a:ext cx="457200" cy="584777"/>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6142523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grpSp>
        <p:nvGrpSpPr>
          <p:cNvPr id="22" name="Group 21"/>
          <p:cNvGrpSpPr/>
          <p:nvPr/>
        </p:nvGrpSpPr>
        <p:grpSpPr>
          <a:xfrm>
            <a:off x="0" y="4572000"/>
            <a:ext cx="9161969" cy="1677035"/>
            <a:chOff x="0" y="2895600"/>
            <a:chExt cx="9161969" cy="1677035"/>
          </a:xfrm>
        </p:grpSpPr>
        <p:pic>
          <p:nvPicPr>
            <p:cNvPr id="23" name="Picture 22"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4" name="Picture 23"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5" name="Rectangle 24"/>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8" y="4710340"/>
            <a:ext cx="6896534" cy="589812"/>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531639" y="5300150"/>
            <a:ext cx="6896534" cy="51195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6438" y="4709926"/>
            <a:ext cx="1149836" cy="1090789"/>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079615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grpSp>
        <p:nvGrpSpPr>
          <p:cNvPr id="23" name="Group 22"/>
          <p:cNvGrpSpPr/>
          <p:nvPr/>
        </p:nvGrpSpPr>
        <p:grpSpPr>
          <a:xfrm>
            <a:off x="0" y="609600"/>
            <a:ext cx="9161969" cy="1677035"/>
            <a:chOff x="0" y="2895600"/>
            <a:chExt cx="9161969" cy="1677035"/>
          </a:xfrm>
        </p:grpSpPr>
        <p:pic>
          <p:nvPicPr>
            <p:cNvPr id="24" name="Picture 23"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25" name="Picture 24"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26" name="Rectangle 25"/>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15" name="Title 1"/>
          <p:cNvSpPr>
            <a:spLocks noGrp="1"/>
          </p:cNvSpPr>
          <p:nvPr>
            <p:ph type="title"/>
          </p:nvPr>
        </p:nvSpPr>
        <p:spPr>
          <a:xfrm>
            <a:off x="531639" y="753228"/>
            <a:ext cx="6896534"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532629" y="2329489"/>
            <a:ext cx="219456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539777" y="3015290"/>
            <a:ext cx="219456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2878413" y="2336873"/>
            <a:ext cx="219456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2879710" y="3007906"/>
            <a:ext cx="219456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226136" y="2336873"/>
            <a:ext cx="219456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233520" y="3007905"/>
            <a:ext cx="219456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5/2/2025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360626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grpSp>
        <p:nvGrpSpPr>
          <p:cNvPr id="34" name="Group 33"/>
          <p:cNvGrpSpPr/>
          <p:nvPr/>
        </p:nvGrpSpPr>
        <p:grpSpPr>
          <a:xfrm>
            <a:off x="0" y="609600"/>
            <a:ext cx="9161969" cy="1677035"/>
            <a:chOff x="0" y="2895600"/>
            <a:chExt cx="9161969" cy="1677035"/>
          </a:xfrm>
        </p:grpSpPr>
        <p:pic>
          <p:nvPicPr>
            <p:cNvPr id="35" name="Picture 34"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36" name="Picture 35"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37" name="Rectangle 36"/>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8" name="Rectangle 37"/>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30" name="Title 1"/>
          <p:cNvSpPr>
            <a:spLocks noGrp="1"/>
          </p:cNvSpPr>
          <p:nvPr>
            <p:ph type="title"/>
          </p:nvPr>
        </p:nvSpPr>
        <p:spPr>
          <a:xfrm>
            <a:off x="531639" y="753228"/>
            <a:ext cx="6896534"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532391" y="4297503"/>
            <a:ext cx="2192257"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532391" y="2336873"/>
            <a:ext cx="2192257"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532391" y="4873765"/>
            <a:ext cx="219225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2870497" y="4297503"/>
            <a:ext cx="221507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2870497" y="2336873"/>
            <a:ext cx="221507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2869483" y="4873764"/>
            <a:ext cx="2218004"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231028" y="4297503"/>
            <a:ext cx="2194333"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5231027" y="2336873"/>
            <a:ext cx="2194333"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230934" y="4873762"/>
            <a:ext cx="2197239"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5BCAD085-E8A6-8845-BD4E-CB4CCA059FC4}" type="datetimeFigureOut">
              <a:rPr lang="en-US" smtClean="0"/>
              <a:t>5/2/2025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101136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grpSp>
        <p:nvGrpSpPr>
          <p:cNvPr id="16" name="Group 15"/>
          <p:cNvGrpSpPr/>
          <p:nvPr/>
        </p:nvGrpSpPr>
        <p:grpSpPr>
          <a:xfrm>
            <a:off x="0" y="609600"/>
            <a:ext cx="9161969" cy="1677035"/>
            <a:chOff x="0" y="2895600"/>
            <a:chExt cx="9161969" cy="1677035"/>
          </a:xfrm>
        </p:grpSpPr>
        <p:pic>
          <p:nvPicPr>
            <p:cNvPr id="17" name="Picture 16" descr="HD-ShadowLong.png"/>
            <p:cNvPicPr>
              <a:picLocks noChangeAspect="1"/>
            </p:cNvPicPr>
            <p:nvPr/>
          </p:nvPicPr>
          <p:blipFill rotWithShape="1">
            <a:blip r:embed="rId2">
              <a:extLst>
                <a:ext uri="{28A0092B-C50C-407E-A947-70E740481C1C}">
                  <a14:useLocalDpi xmlns:a14="http://schemas.microsoft.com/office/drawing/2010/main" val="0"/>
                </a:ext>
              </a:extLst>
            </a:blip>
            <a:srcRect l="26982" r="-217"/>
            <a:stretch/>
          </p:blipFill>
          <p:spPr>
            <a:xfrm>
              <a:off x="0" y="4251471"/>
              <a:ext cx="7644384" cy="321164"/>
            </a:xfrm>
            <a:prstGeom prst="rect">
              <a:avLst/>
            </a:prstGeom>
          </p:spPr>
        </p:pic>
        <p:pic>
          <p:nvPicPr>
            <p:cNvPr id="18" name="Picture 17" descr="HD-ShadowShort.png"/>
            <p:cNvPicPr>
              <a:picLocks noChangeAspect="1"/>
            </p:cNvPicPr>
            <p:nvPr/>
          </p:nvPicPr>
          <p:blipFill rotWithShape="1">
            <a:blip r:embed="rId3">
              <a:extLst>
                <a:ext uri="{28A0092B-C50C-407E-A947-70E740481C1C}">
                  <a14:useLocalDpi xmlns:a14="http://schemas.microsoft.com/office/drawing/2010/main" val="0"/>
                </a:ext>
              </a:extLst>
            </a:blip>
            <a:srcRect r="9871"/>
            <a:stretch/>
          </p:blipFill>
          <p:spPr>
            <a:xfrm>
              <a:off x="7717217" y="4259262"/>
              <a:ext cx="1444752" cy="144270"/>
            </a:xfrm>
            <a:prstGeom prst="rect">
              <a:avLst/>
            </a:prstGeom>
          </p:spPr>
        </p:pic>
        <p:sp>
          <p:nvSpPr>
            <p:cNvPr id="19" name="Rectangle 18"/>
            <p:cNvSpPr/>
            <p:nvPr/>
          </p:nvSpPr>
          <p:spPr bwMode="ltGray">
            <a:xfrm>
              <a:off x="0" y="2895600"/>
              <a:ext cx="756714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7710769" y="2895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Title 1"/>
          <p:cNvSpPr>
            <a:spLocks noGrp="1"/>
          </p:cNvSpPr>
          <p:nvPr>
            <p:ph type="title"/>
          </p:nvPr>
        </p:nvSpPr>
        <p:spPr>
          <a:xfrm>
            <a:off x="531639" y="753228"/>
            <a:ext cx="6896534" cy="1080938"/>
          </a:xfrm>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0920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grpSp>
        <p:nvGrpSpPr>
          <p:cNvPr id="14" name="Group 13"/>
          <p:cNvGrpSpPr/>
          <p:nvPr/>
        </p:nvGrpSpPr>
        <p:grpSpPr>
          <a:xfrm rot="5400000">
            <a:off x="4575305" y="2747178"/>
            <a:ext cx="6862555" cy="1368199"/>
            <a:chOff x="2281445" y="609600"/>
            <a:chExt cx="6862555" cy="1368199"/>
          </a:xfrm>
        </p:grpSpPr>
        <p:sp>
          <p:nvSpPr>
            <p:cNvPr id="12" name="Rectangle 11"/>
            <p:cNvSpPr/>
            <p:nvPr/>
          </p:nvSpPr>
          <p:spPr bwMode="ltGray">
            <a:xfrm>
              <a:off x="2281445" y="609601"/>
              <a:ext cx="528569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7710769" y="609600"/>
              <a:ext cx="1433231"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sp>
        <p:nvSpPr>
          <p:cNvPr id="2" name="Vertical Title 1"/>
          <p:cNvSpPr>
            <a:spLocks noGrp="1"/>
          </p:cNvSpPr>
          <p:nvPr>
            <p:ph type="title" orient="vert"/>
          </p:nvPr>
        </p:nvSpPr>
        <p:spPr>
          <a:xfrm>
            <a:off x="7464798" y="609597"/>
            <a:ext cx="1069602" cy="446193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10241" y="609598"/>
            <a:ext cx="6576359"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5029144" y="5936188"/>
            <a:ext cx="2057400" cy="365125"/>
          </a:xfrm>
        </p:spPr>
        <p:txBody>
          <a:bodyPr/>
          <a:lstStyle/>
          <a:p>
            <a:fld id="{5BCAD085-E8A6-8845-BD4E-CB4CCA059FC4}" type="datetimeFigureOut">
              <a:rPr lang="en-US" smtClean="0"/>
              <a:t>5/2/2025</a:t>
            </a:fld>
            <a:endParaRPr lang="en-US"/>
          </a:p>
        </p:txBody>
      </p:sp>
      <p:sp>
        <p:nvSpPr>
          <p:cNvPr id="5" name="Footer Placeholder 4"/>
          <p:cNvSpPr>
            <a:spLocks noGrp="1"/>
          </p:cNvSpPr>
          <p:nvPr>
            <p:ph type="ftr" sz="quarter" idx="11"/>
          </p:nvPr>
        </p:nvSpPr>
        <p:spPr>
          <a:xfrm>
            <a:off x="510241" y="5936189"/>
            <a:ext cx="4518959" cy="365125"/>
          </a:xfrm>
        </p:spPr>
        <p:txBody>
          <a:bodyPr/>
          <a:lstStyle/>
          <a:p>
            <a:endParaRPr lang="en-US"/>
          </a:p>
        </p:txBody>
      </p:sp>
      <p:sp>
        <p:nvSpPr>
          <p:cNvPr id="6" name="Slide Number Placeholder 5"/>
          <p:cNvSpPr>
            <a:spLocks noGrp="1"/>
          </p:cNvSpPr>
          <p:nvPr>
            <p:ph type="sldNum" sz="quarter" idx="12"/>
          </p:nvPr>
        </p:nvSpPr>
        <p:spPr>
          <a:xfrm>
            <a:off x="7431152" y="5432500"/>
            <a:ext cx="1149636" cy="1273100"/>
          </a:xfrm>
        </p:spPr>
        <p:txBody>
          <a:bodyPr anchor="t"/>
          <a:lstStyle>
            <a:lvl1pPr algn="ctr">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7293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7" name="Picture 3" descr="C:\Users\James\Desktop\msft\Berlin\build Assets\hashOverlaySD-FullResolve.png"/>
          <p:cNvPicPr>
            <a:picLocks noChangeAspect="1" noChangeArrowheads="1"/>
          </p:cNvPicPr>
          <p:nvPr/>
        </p:nvPicPr>
        <p:blipFill>
          <a:blip r:embed="rId19">
            <a:alphaModFix amt="10000"/>
            <a:extLst>
              <a:ext uri="{28A0092B-C50C-407E-A947-70E740481C1C}">
                <a14:useLocalDpi xmlns:a14="http://schemas.microsoft.com/office/drawing/2010/main" val="0"/>
              </a:ext>
            </a:extLst>
          </a:blip>
          <a:srcRect/>
          <a:stretch>
            <a:fillRect/>
          </a:stretch>
        </p:blipFill>
        <p:spPr bwMode="auto">
          <a:xfrm>
            <a:off x="0" y="1"/>
            <a:ext cx="9144000" cy="6858000"/>
          </a:xfrm>
          <a:prstGeom prst="rect">
            <a:avLst/>
          </a:prstGeom>
          <a:extLst>
            <a:ext uri="{909E8E84-426E-40dd-AFC4-6F175D3DCCD1}">
              <a14:hiddenFill xmlns:a14="http://schemas.microsoft.com/office/drawing/2010/main" xmlns="">
                <a:solidFill>
                  <a:srgbClr val="FFFFFF"/>
                </a:solidFill>
              </a14:hiddenFill>
            </a:ext>
          </a:extLst>
        </p:spPr>
      </p:pic>
      <p:sp>
        <p:nvSpPr>
          <p:cNvPr id="2" name="Title Placeholder 1"/>
          <p:cNvSpPr>
            <a:spLocks noGrp="1"/>
          </p:cNvSpPr>
          <p:nvPr>
            <p:ph type="title"/>
          </p:nvPr>
        </p:nvSpPr>
        <p:spPr>
          <a:xfrm>
            <a:off x="531639" y="753228"/>
            <a:ext cx="6896534"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33400" y="2336873"/>
            <a:ext cx="6887389"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67881" y="5936188"/>
            <a:ext cx="20574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5BCAD085-E8A6-8845-BD4E-CB4CCA059FC4}" type="datetimeFigureOut">
              <a:rPr lang="en-US" smtClean="0"/>
              <a:t>5/2/2025</a:t>
            </a:fld>
            <a:endParaRPr lang="en-US"/>
          </a:p>
        </p:txBody>
      </p:sp>
      <p:sp>
        <p:nvSpPr>
          <p:cNvPr id="5" name="Footer Placeholder 4"/>
          <p:cNvSpPr>
            <a:spLocks noGrp="1"/>
          </p:cNvSpPr>
          <p:nvPr>
            <p:ph type="ftr" sz="quarter" idx="3"/>
          </p:nvPr>
        </p:nvSpPr>
        <p:spPr>
          <a:xfrm>
            <a:off x="533400" y="5936189"/>
            <a:ext cx="4834673"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848600" y="753228"/>
            <a:ext cx="1157674"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3551356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Git Tutorial for Business Analysts</a:t>
            </a:r>
          </a:p>
        </p:txBody>
      </p:sp>
      <p:sp>
        <p:nvSpPr>
          <p:cNvPr id="3" name="Subtitle 2"/>
          <p:cNvSpPr>
            <a:spLocks noGrp="1"/>
          </p:cNvSpPr>
          <p:nvPr>
            <p:ph type="subTitle" idx="1"/>
          </p:nvPr>
        </p:nvSpPr>
        <p:spPr/>
        <p:txBody>
          <a:bodyPr/>
          <a:lstStyle/>
          <a:p>
            <a:r>
              <a:rPr dirty="0"/>
              <a:t>Using </a:t>
            </a:r>
            <a:r>
              <a:rPr dirty="0" err="1"/>
              <a:t>VSCode</a:t>
            </a:r>
            <a:r>
              <a:rPr dirty="0"/>
              <a:t> &amp; Command Line in Banking Remediation</a:t>
            </a:r>
          </a:p>
          <a:p>
            <a:r>
              <a:rPr dirty="0"/>
              <a:t>Presented by: </a:t>
            </a:r>
            <a:r>
              <a:rPr lang="en-PH"/>
              <a:t>Mykhal Mangada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Git?</a:t>
            </a:r>
          </a:p>
        </p:txBody>
      </p:sp>
      <p:sp>
        <p:nvSpPr>
          <p:cNvPr id="3" name="Content Placeholder 2"/>
          <p:cNvSpPr>
            <a:spLocks noGrp="1"/>
          </p:cNvSpPr>
          <p:nvPr>
            <p:ph idx="1"/>
          </p:nvPr>
        </p:nvSpPr>
        <p:spPr/>
        <p:txBody>
          <a:bodyPr/>
          <a:lstStyle/>
          <a:p>
            <a:r>
              <a:t>• Keep track of versions in reports/scripts</a:t>
            </a:r>
          </a:p>
          <a:p>
            <a:r>
              <a:t>• Collaborate clearly and efficiently</a:t>
            </a:r>
          </a:p>
          <a:p>
            <a:r>
              <a:t>• Improve auditability and traceability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Concepts</a:t>
            </a:r>
          </a:p>
        </p:txBody>
      </p:sp>
      <p:sp>
        <p:nvSpPr>
          <p:cNvPr id="3" name="Content Placeholder 2"/>
          <p:cNvSpPr>
            <a:spLocks noGrp="1"/>
          </p:cNvSpPr>
          <p:nvPr>
            <p:ph idx="1"/>
          </p:nvPr>
        </p:nvSpPr>
        <p:spPr/>
        <p:txBody>
          <a:bodyPr/>
          <a:lstStyle/>
          <a:p>
            <a:r>
              <a:rPr dirty="0"/>
              <a:t>Repository: Folder tracked by Git</a:t>
            </a:r>
          </a:p>
          <a:p>
            <a:r>
              <a:rPr dirty="0"/>
              <a:t>Commit: Snapshot of changes</a:t>
            </a:r>
          </a:p>
          <a:p>
            <a:r>
              <a:rPr dirty="0"/>
              <a:t>Branch: Alternative timeline</a:t>
            </a:r>
          </a:p>
          <a:p>
            <a:r>
              <a:rPr dirty="0"/>
              <a:t>Remote vs Local: Remote = cloud, Local = your PC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 vs GitHub</a:t>
            </a:r>
          </a:p>
        </p:txBody>
      </p:sp>
      <p:sp>
        <p:nvSpPr>
          <p:cNvPr id="3" name="Content Placeholder 2"/>
          <p:cNvSpPr>
            <a:spLocks noGrp="1"/>
          </p:cNvSpPr>
          <p:nvPr>
            <p:ph idx="1"/>
          </p:nvPr>
        </p:nvSpPr>
        <p:spPr/>
        <p:txBody>
          <a:bodyPr/>
          <a:lstStyle/>
          <a:p>
            <a:r>
              <a:rPr dirty="0"/>
              <a:t>Git = Version control tool</a:t>
            </a:r>
          </a:p>
          <a:p>
            <a:r>
              <a:rPr dirty="0"/>
              <a:t>GitHub = Cloud platform for Git repos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Git Setup (Command Line)</a:t>
            </a:r>
          </a:p>
        </p:txBody>
      </p:sp>
      <p:sp>
        <p:nvSpPr>
          <p:cNvPr id="3" name="Content Placeholder 2"/>
          <p:cNvSpPr>
            <a:spLocks noGrp="1"/>
          </p:cNvSpPr>
          <p:nvPr>
            <p:ph idx="1"/>
          </p:nvPr>
        </p:nvSpPr>
        <p:spPr/>
        <p:txBody>
          <a:bodyPr/>
          <a:lstStyle/>
          <a:p>
            <a:r>
              <a:t>git config --global user.name "Your Name"</a:t>
            </a:r>
          </a:p>
          <a:p>
            <a:r>
              <a:t>git config --global user.email "you@example.com"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Initialize a Project</a:t>
            </a:r>
          </a:p>
        </p:txBody>
      </p:sp>
      <p:sp>
        <p:nvSpPr>
          <p:cNvPr id="3" name="Content Placeholder 2"/>
          <p:cNvSpPr>
            <a:spLocks noGrp="1"/>
          </p:cNvSpPr>
          <p:nvPr>
            <p:ph idx="1"/>
          </p:nvPr>
        </p:nvSpPr>
        <p:spPr/>
        <p:txBody>
          <a:bodyPr/>
          <a:lstStyle/>
          <a:p>
            <a:r>
              <a:rPr dirty="0" err="1"/>
              <a:t>mkdir</a:t>
            </a:r>
            <a:r>
              <a:rPr dirty="0"/>
              <a:t> remediation-git-demo</a:t>
            </a:r>
          </a:p>
          <a:p>
            <a:r>
              <a:rPr dirty="0"/>
              <a:t>cd remediation-git-demo</a:t>
            </a:r>
          </a:p>
          <a:p>
            <a:r>
              <a:rPr dirty="0"/>
              <a:t>git </a:t>
            </a:r>
            <a:r>
              <a:rPr dirty="0" err="1"/>
              <a:t>init</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Adding and Committing</a:t>
            </a:r>
          </a:p>
        </p:txBody>
      </p:sp>
      <p:sp>
        <p:nvSpPr>
          <p:cNvPr id="3" name="Content Placeholder 2"/>
          <p:cNvSpPr>
            <a:spLocks noGrp="1"/>
          </p:cNvSpPr>
          <p:nvPr>
            <p:ph idx="1"/>
          </p:nvPr>
        </p:nvSpPr>
        <p:spPr/>
        <p:txBody>
          <a:bodyPr/>
          <a:lstStyle/>
          <a:p>
            <a:r>
              <a:t>echo "Initial analysis" &gt; notes.txt</a:t>
            </a:r>
          </a:p>
          <a:p>
            <a:r>
              <a:t>git status</a:t>
            </a:r>
          </a:p>
          <a:p>
            <a:r>
              <a:t>git add notes.txt</a:t>
            </a:r>
          </a:p>
          <a:p>
            <a:r>
              <a:t>git commit -m "Initial notes"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Modifying and Tracking Changes</a:t>
            </a:r>
          </a:p>
        </p:txBody>
      </p:sp>
      <p:sp>
        <p:nvSpPr>
          <p:cNvPr id="3" name="Content Placeholder 2"/>
          <p:cNvSpPr>
            <a:spLocks noGrp="1"/>
          </p:cNvSpPr>
          <p:nvPr>
            <p:ph idx="1"/>
          </p:nvPr>
        </p:nvSpPr>
        <p:spPr/>
        <p:txBody>
          <a:bodyPr/>
          <a:lstStyle/>
          <a:p>
            <a:r>
              <a:t>echo "Added findings." &gt;&gt; notes.txt</a:t>
            </a:r>
          </a:p>
          <a:p>
            <a:r>
              <a:t>git add notes.txt</a:t>
            </a:r>
          </a:p>
          <a:p>
            <a:r>
              <a:t>git commit -m "Add findings"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Viewing History</a:t>
            </a:r>
          </a:p>
        </p:txBody>
      </p:sp>
      <p:sp>
        <p:nvSpPr>
          <p:cNvPr id="3" name="Content Placeholder 2"/>
          <p:cNvSpPr>
            <a:spLocks noGrp="1"/>
          </p:cNvSpPr>
          <p:nvPr>
            <p:ph idx="1"/>
          </p:nvPr>
        </p:nvSpPr>
        <p:spPr/>
        <p:txBody>
          <a:bodyPr/>
          <a:lstStyle/>
          <a:p>
            <a:r>
              <a:t>git log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Branching for Tasks</a:t>
            </a:r>
          </a:p>
        </p:txBody>
      </p:sp>
      <p:sp>
        <p:nvSpPr>
          <p:cNvPr id="3" name="Content Placeholder 2"/>
          <p:cNvSpPr>
            <a:spLocks noGrp="1"/>
          </p:cNvSpPr>
          <p:nvPr>
            <p:ph idx="1"/>
          </p:nvPr>
        </p:nvSpPr>
        <p:spPr/>
        <p:txBody>
          <a:bodyPr/>
          <a:lstStyle/>
          <a:p>
            <a:r>
              <a:t>git checkout -b add-root-cause</a:t>
            </a:r>
          </a:p>
          <a:p>
            <a:r>
              <a:t>echo "Root cause" &gt;&gt; notes.txt</a:t>
            </a:r>
          </a:p>
          <a:p>
            <a:r>
              <a:t>git commit -am "Add root cause"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Merging</a:t>
            </a:r>
          </a:p>
        </p:txBody>
      </p:sp>
      <p:sp>
        <p:nvSpPr>
          <p:cNvPr id="3" name="Content Placeholder 2"/>
          <p:cNvSpPr>
            <a:spLocks noGrp="1"/>
          </p:cNvSpPr>
          <p:nvPr>
            <p:ph idx="1"/>
          </p:nvPr>
        </p:nvSpPr>
        <p:spPr/>
        <p:txBody>
          <a:bodyPr/>
          <a:lstStyle/>
          <a:p>
            <a:r>
              <a:t>git checkout main</a:t>
            </a:r>
          </a:p>
          <a:p>
            <a:r>
              <a:t>git merge add-root-cause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Working with GitHub (Remote)</a:t>
            </a:r>
          </a:p>
        </p:txBody>
      </p:sp>
      <p:sp>
        <p:nvSpPr>
          <p:cNvPr id="3" name="Content Placeholder 2"/>
          <p:cNvSpPr>
            <a:spLocks noGrp="1"/>
          </p:cNvSpPr>
          <p:nvPr>
            <p:ph idx="1"/>
          </p:nvPr>
        </p:nvSpPr>
        <p:spPr/>
        <p:txBody>
          <a:bodyPr/>
          <a:lstStyle/>
          <a:p>
            <a:r>
              <a:t>git remote add origin https://github.com/yourname/demo.git</a:t>
            </a:r>
          </a:p>
          <a:p>
            <a:r>
              <a:t>git branch -M main</a:t>
            </a:r>
          </a:p>
          <a:p>
            <a:r>
              <a:t>git push -u origin main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Cloning a Repo</a:t>
            </a:r>
          </a:p>
        </p:txBody>
      </p:sp>
      <p:sp>
        <p:nvSpPr>
          <p:cNvPr id="3" name="Content Placeholder 2"/>
          <p:cNvSpPr>
            <a:spLocks noGrp="1"/>
          </p:cNvSpPr>
          <p:nvPr>
            <p:ph idx="1"/>
          </p:nvPr>
        </p:nvSpPr>
        <p:spPr/>
        <p:txBody>
          <a:bodyPr/>
          <a:lstStyle/>
          <a:p>
            <a:r>
              <a:t>git clone https://github.com/team/project.git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Remote vs Local</a:t>
            </a:r>
          </a:p>
        </p:txBody>
      </p:sp>
      <p:sp>
        <p:nvSpPr>
          <p:cNvPr id="3" name="Content Placeholder 2"/>
          <p:cNvSpPr>
            <a:spLocks noGrp="1"/>
          </p:cNvSpPr>
          <p:nvPr>
            <p:ph idx="1"/>
          </p:nvPr>
        </p:nvSpPr>
        <p:spPr/>
        <p:txBody>
          <a:bodyPr/>
          <a:lstStyle/>
          <a:p>
            <a:r>
              <a:t>Local: Your laptop | Remote: GitHub (cloud)</a:t>
            </a:r>
          </a:p>
          <a:p>
            <a:r>
              <a:t>git commit -&gt; local changes</a:t>
            </a:r>
          </a:p>
          <a:p>
            <a:r>
              <a:t>git push/pull -&gt; sync with remote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Undoing Mistakes</a:t>
            </a:r>
          </a:p>
        </p:txBody>
      </p:sp>
      <p:sp>
        <p:nvSpPr>
          <p:cNvPr id="3" name="Content Placeholder 2"/>
          <p:cNvSpPr>
            <a:spLocks noGrp="1"/>
          </p:cNvSpPr>
          <p:nvPr>
            <p:ph idx="1"/>
          </p:nvPr>
        </p:nvSpPr>
        <p:spPr/>
        <p:txBody>
          <a:bodyPr/>
          <a:lstStyle/>
          <a:p>
            <a:r>
              <a:t>git restore notes.txt</a:t>
            </a:r>
          </a:p>
          <a:p>
            <a:r>
              <a:t>git reset --soft HEAD~1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a:lstStyle/>
          <a:p>
            <a:r>
              <a:rPr dirty="0"/>
              <a:t>Git tracks changes in your reports and scripts</a:t>
            </a:r>
          </a:p>
          <a:p>
            <a:r>
              <a:rPr dirty="0"/>
              <a:t>Use branches to isolate work</a:t>
            </a:r>
          </a:p>
          <a:p>
            <a:r>
              <a:rPr dirty="0"/>
              <a:t>Push to GitHub to collaborate</a:t>
            </a:r>
          </a:p>
          <a:p>
            <a:r>
              <a:rPr dirty="0"/>
              <a:t>Commands are short but powerful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Q&amp;A</a:t>
            </a:r>
          </a:p>
        </p:txBody>
      </p:sp>
      <p:sp>
        <p:nvSpPr>
          <p:cNvPr id="3" name="Content Placeholder 2"/>
          <p:cNvSpPr>
            <a:spLocks noGrp="1"/>
          </p:cNvSpPr>
          <p:nvPr>
            <p:ph idx="1"/>
          </p:nvPr>
        </p:nvSpPr>
        <p:spPr/>
        <p:txBody>
          <a:bodyPr/>
          <a:lstStyle/>
          <a:p>
            <a:r>
              <a:t>Let’s go over any questions, or review a part you’d like to try again.</a:t>
            </a:r>
          </a:p>
        </p:txBody>
      </p:sp>
    </p:spTree>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372</TotalTime>
  <Words>898</Words>
  <Application>Microsoft Office PowerPoint</Application>
  <PresentationFormat>On-screen Show (4:3)</PresentationFormat>
  <Paragraphs>109</Paragraphs>
  <Slides>17</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Trebuchet MS</vt:lpstr>
      <vt:lpstr>Berlin</vt:lpstr>
      <vt:lpstr>Git Tutorial for Business Analysts</vt:lpstr>
      <vt:lpstr>Why Git?</vt:lpstr>
      <vt:lpstr>Key Concepts</vt:lpstr>
      <vt:lpstr>Git vs GitHub</vt:lpstr>
      <vt:lpstr>Git Setup (Command Line)</vt:lpstr>
      <vt:lpstr>Initialize a Project</vt:lpstr>
      <vt:lpstr>Adding and Committing</vt:lpstr>
      <vt:lpstr>Modifying and Tracking Changes</vt:lpstr>
      <vt:lpstr>Viewing History</vt:lpstr>
      <vt:lpstr>Branching for Tasks</vt:lpstr>
      <vt:lpstr>Merging</vt:lpstr>
      <vt:lpstr>Working with GitHub (Remote)</vt:lpstr>
      <vt:lpstr>Cloning a Repo</vt:lpstr>
      <vt:lpstr>Remote vs Local</vt:lpstr>
      <vt:lpstr>Undoing Mistakes</vt:lpstr>
      <vt:lpstr>Summary</vt:lpstr>
      <vt:lpstr>Q&amp;A</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mykl</dc:creator>
  <cp:keywords/>
  <dc:description>generated using python-pptx</dc:description>
  <cp:lastModifiedBy>Mykhal Mangada</cp:lastModifiedBy>
  <cp:revision>4</cp:revision>
  <dcterms:created xsi:type="dcterms:W3CDTF">2013-01-27T09:14:16Z</dcterms:created>
  <dcterms:modified xsi:type="dcterms:W3CDTF">2025-05-02T05:06:58Z</dcterms:modified>
  <cp:category/>
</cp:coreProperties>
</file>