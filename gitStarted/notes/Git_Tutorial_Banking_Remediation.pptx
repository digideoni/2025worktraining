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58693" autoAdjust="0"/>
  </p:normalViewPr>
  <p:slideViewPr>
    <p:cSldViewPr snapToGrid="0" snapToObjects="1">
      <p:cViewPr varScale="1">
        <p:scale>
          <a:sx n="48" d="100"/>
          <a:sy n="48" d="100"/>
        </p:scale>
        <p:origin x="2458" y="53"/>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PH"/>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66D2677-F995-415E-97FD-1113770AD769}" type="datetimeFigureOut">
              <a:rPr lang="en-PH" smtClean="0"/>
              <a:t>May 2, 2025</a:t>
            </a:fld>
            <a:endParaRPr lang="en-PH"/>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PH"/>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PH"/>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PH"/>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A6290D1-6140-49A7-820A-52936A3EF0C8}" type="slidenum">
              <a:rPr lang="en-PH" smtClean="0"/>
              <a:t>‹#›</a:t>
            </a:fld>
            <a:endParaRPr lang="en-PH"/>
          </a:p>
        </p:txBody>
      </p:sp>
    </p:spTree>
    <p:extLst>
      <p:ext uri="{BB962C8B-B14F-4D97-AF65-F5344CB8AC3E}">
        <p14:creationId xmlns:p14="http://schemas.microsoft.com/office/powerpoint/2010/main" val="93215602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Welcome everyone! Today we’re diving into Git, a tool that helps us track changes, collaborate with others, and ensure traceability in our work. This session is tailored for business analysts working in banking remediation, with tools you're familiar with: </a:t>
            </a:r>
            <a:r>
              <a:rPr lang="en-US" dirty="0" err="1"/>
              <a:t>VSCode</a:t>
            </a:r>
            <a:r>
              <a:rPr lang="en-US" dirty="0"/>
              <a:t> and the command line.</a:t>
            </a:r>
          </a:p>
          <a:p>
            <a:endParaRPr lang="en-PH" dirty="0"/>
          </a:p>
        </p:txBody>
      </p:sp>
      <p:sp>
        <p:nvSpPr>
          <p:cNvPr id="4" name="Slide Number Placeholder 3"/>
          <p:cNvSpPr>
            <a:spLocks noGrp="1"/>
          </p:cNvSpPr>
          <p:nvPr>
            <p:ph type="sldNum" sz="quarter" idx="5"/>
          </p:nvPr>
        </p:nvSpPr>
        <p:spPr/>
        <p:txBody>
          <a:bodyPr/>
          <a:lstStyle/>
          <a:p>
            <a:fld id="{AA6290D1-6140-49A7-820A-52936A3EF0C8}" type="slidenum">
              <a:rPr lang="en-PH" smtClean="0"/>
              <a:t>1</a:t>
            </a:fld>
            <a:endParaRPr lang="en-PH"/>
          </a:p>
        </p:txBody>
      </p:sp>
    </p:spTree>
    <p:extLst>
      <p:ext uri="{BB962C8B-B14F-4D97-AF65-F5344CB8AC3E}">
        <p14:creationId xmlns:p14="http://schemas.microsoft.com/office/powerpoint/2010/main" val="343656916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Let’s start with why we use Git. Git helps track the versions of your SQL scripts, documentation, Excel-based findings—even if you're not writing code. It helps in understanding what changed, when, and by whom. In remediation work, audit trails are essential. Git gives you that, and more.</a:t>
            </a:r>
          </a:p>
          <a:p>
            <a:endParaRPr lang="en-PH" dirty="0"/>
          </a:p>
          <a:p>
            <a:pPr>
              <a:buNone/>
            </a:pPr>
            <a:r>
              <a:rPr lang="en-US" b="1" dirty="0"/>
              <a:t>Git is Like a “Version-Controlled Filing Cabinet”</a:t>
            </a:r>
          </a:p>
          <a:p>
            <a:pPr>
              <a:buNone/>
            </a:pPr>
            <a:r>
              <a:rPr lang="en-US" b="1" dirty="0"/>
              <a:t>Imagine your remediation project is a shared filing cabinet.</a:t>
            </a:r>
            <a:endParaRPr lang="en-US" dirty="0"/>
          </a:p>
          <a:p>
            <a:pPr>
              <a:buFont typeface="Arial" panose="020B0604020202020204" pitchFamily="34" charset="0"/>
              <a:buChar char="•"/>
            </a:pPr>
            <a:r>
              <a:rPr lang="en-US" dirty="0"/>
              <a:t>Every analyst works on reports (documents, SQL scripts, spreadsheets).</a:t>
            </a:r>
          </a:p>
          <a:p>
            <a:pPr>
              <a:buFont typeface="Arial" panose="020B0604020202020204" pitchFamily="34" charset="0"/>
              <a:buChar char="•"/>
            </a:pPr>
            <a:r>
              <a:rPr lang="en-US" dirty="0"/>
              <a:t>Without Git, people overwrite each other's files or keep 10 versions like:</a:t>
            </a:r>
          </a:p>
          <a:p>
            <a:pPr>
              <a:buFont typeface="Arial" panose="020B0604020202020204" pitchFamily="34" charset="0"/>
              <a:buChar char="•"/>
            </a:pPr>
            <a:r>
              <a:rPr lang="en-US" dirty="0" err="1"/>
              <a:t>CopyEdit</a:t>
            </a:r>
            <a:endParaRPr lang="en-US" dirty="0"/>
          </a:p>
          <a:p>
            <a:pPr rtl="0">
              <a:buFont typeface="Arial" panose="020B0604020202020204" pitchFamily="34" charset="0"/>
              <a:buChar char="•"/>
            </a:pPr>
            <a:r>
              <a:rPr lang="en-US" dirty="0"/>
              <a:t>final_report_v2_final_FINAL_reviewed_UPDATED.docx </a:t>
            </a:r>
          </a:p>
          <a:p>
            <a:pPr>
              <a:buNone/>
            </a:pPr>
            <a:r>
              <a:rPr lang="en-US" b="1" dirty="0"/>
              <a:t>🔄 Now enter Git — your smart filing system:</a:t>
            </a:r>
          </a:p>
          <a:p>
            <a:pPr>
              <a:buFont typeface="Arial" panose="020B0604020202020204" pitchFamily="34" charset="0"/>
              <a:buChar char="•"/>
            </a:pPr>
            <a:r>
              <a:rPr lang="en-US" dirty="0"/>
              <a:t>Every time you update a file, Git remembers exactly </a:t>
            </a:r>
            <a:r>
              <a:rPr lang="en-US" b="1" dirty="0"/>
              <a:t>what changed</a:t>
            </a:r>
            <a:r>
              <a:rPr lang="en-US" dirty="0"/>
              <a:t>, </a:t>
            </a:r>
            <a:r>
              <a:rPr lang="en-US" b="1" dirty="0"/>
              <a:t>who changed it</a:t>
            </a:r>
            <a:r>
              <a:rPr lang="en-US" dirty="0"/>
              <a:t>, and </a:t>
            </a:r>
            <a:r>
              <a:rPr lang="en-US" b="1" dirty="0"/>
              <a:t>when</a:t>
            </a:r>
            <a:r>
              <a:rPr lang="en-US" dirty="0"/>
              <a:t>.</a:t>
            </a:r>
          </a:p>
          <a:p>
            <a:pPr>
              <a:buFont typeface="Arial" panose="020B0604020202020204" pitchFamily="34" charset="0"/>
              <a:buChar char="•"/>
            </a:pPr>
            <a:r>
              <a:rPr lang="en-US" dirty="0"/>
              <a:t>You can </a:t>
            </a:r>
            <a:r>
              <a:rPr lang="en-US" b="1" dirty="0"/>
              <a:t>roll back</a:t>
            </a:r>
            <a:r>
              <a:rPr lang="en-US" dirty="0"/>
              <a:t> to earlier versions if someone makes a mistake.</a:t>
            </a:r>
          </a:p>
          <a:p>
            <a:pPr>
              <a:buFont typeface="Arial" panose="020B0604020202020204" pitchFamily="34" charset="0"/>
              <a:buChar char="•"/>
            </a:pPr>
            <a:r>
              <a:rPr lang="en-US" dirty="0"/>
              <a:t>You can </a:t>
            </a:r>
            <a:r>
              <a:rPr lang="en-US" b="1" dirty="0"/>
              <a:t>branch off</a:t>
            </a:r>
            <a:r>
              <a:rPr lang="en-US" dirty="0"/>
              <a:t> and work on new ideas (like testing new risk logic) without disturbing the main project.</a:t>
            </a:r>
          </a:p>
          <a:p>
            <a:pPr>
              <a:buFont typeface="Arial" panose="020B0604020202020204" pitchFamily="34" charset="0"/>
              <a:buChar char="•"/>
            </a:pPr>
            <a:r>
              <a:rPr lang="en-US" dirty="0"/>
              <a:t>You can </a:t>
            </a:r>
            <a:r>
              <a:rPr lang="en-US" b="1" dirty="0"/>
              <a:t>merge changes</a:t>
            </a:r>
            <a:r>
              <a:rPr lang="en-US" dirty="0"/>
              <a:t> only after review and agreement — like controlled approvals.</a:t>
            </a:r>
          </a:p>
          <a:p>
            <a:pPr>
              <a:buNone/>
            </a:pPr>
            <a:r>
              <a:rPr lang="en-US" b="1" dirty="0"/>
              <a:t>📤 GitHub is like the cloud filing cabinet:</a:t>
            </a:r>
          </a:p>
          <a:p>
            <a:pPr>
              <a:buFont typeface="Arial" panose="020B0604020202020204" pitchFamily="34" charset="0"/>
              <a:buChar char="•"/>
            </a:pPr>
            <a:r>
              <a:rPr lang="en-US" dirty="0"/>
              <a:t>Everyone syncs their local changes back to a </a:t>
            </a:r>
            <a:r>
              <a:rPr lang="en-US" b="1" dirty="0"/>
              <a:t>shared remote folder</a:t>
            </a:r>
            <a:r>
              <a:rPr lang="en-US" dirty="0"/>
              <a:t> (the GitHub repo).</a:t>
            </a:r>
          </a:p>
          <a:p>
            <a:pPr>
              <a:buFont typeface="Arial" panose="020B0604020202020204" pitchFamily="34" charset="0"/>
              <a:buChar char="•"/>
            </a:pPr>
            <a:r>
              <a:rPr lang="en-US" dirty="0"/>
              <a:t>It ensures the team is always working with the latest reviewed version.</a:t>
            </a:r>
          </a:p>
          <a:p>
            <a:endParaRPr lang="en-PH" dirty="0"/>
          </a:p>
        </p:txBody>
      </p:sp>
      <p:sp>
        <p:nvSpPr>
          <p:cNvPr id="4" name="Slide Number Placeholder 3"/>
          <p:cNvSpPr>
            <a:spLocks noGrp="1"/>
          </p:cNvSpPr>
          <p:nvPr>
            <p:ph type="sldNum" sz="quarter" idx="5"/>
          </p:nvPr>
        </p:nvSpPr>
        <p:spPr/>
        <p:txBody>
          <a:bodyPr/>
          <a:lstStyle/>
          <a:p>
            <a:fld id="{AA6290D1-6140-49A7-820A-52936A3EF0C8}" type="slidenum">
              <a:rPr lang="en-PH" smtClean="0"/>
              <a:t>2</a:t>
            </a:fld>
            <a:endParaRPr lang="en-PH"/>
          </a:p>
        </p:txBody>
      </p:sp>
    </p:spTree>
    <p:extLst>
      <p:ext uri="{BB962C8B-B14F-4D97-AF65-F5344CB8AC3E}">
        <p14:creationId xmlns:p14="http://schemas.microsoft.com/office/powerpoint/2010/main" val="114864303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"Instead of creating files from scratch, we clone an existing project from GitHub. This gives us the full working directory locally."</a:t>
            </a:r>
          </a:p>
          <a:p>
            <a:endParaRPr lang="en-PH"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git clone downloads a remote repo; cd moves into that folder.</a:t>
            </a:r>
          </a:p>
          <a:p>
            <a:endParaRPr lang="en-PH" dirty="0"/>
          </a:p>
        </p:txBody>
      </p:sp>
      <p:sp>
        <p:nvSpPr>
          <p:cNvPr id="4" name="Slide Number Placeholder 3"/>
          <p:cNvSpPr>
            <a:spLocks noGrp="1"/>
          </p:cNvSpPr>
          <p:nvPr>
            <p:ph type="sldNum" sz="quarter" idx="5"/>
          </p:nvPr>
        </p:nvSpPr>
        <p:spPr/>
        <p:txBody>
          <a:bodyPr/>
          <a:lstStyle/>
          <a:p>
            <a:fld id="{AA6290D1-6140-49A7-820A-52936A3EF0C8}" type="slidenum">
              <a:rPr lang="en-PH" smtClean="0"/>
              <a:t>3</a:t>
            </a:fld>
            <a:endParaRPr lang="en-PH"/>
          </a:p>
        </p:txBody>
      </p:sp>
    </p:spTree>
    <p:extLst>
      <p:ext uri="{BB962C8B-B14F-4D97-AF65-F5344CB8AC3E}">
        <p14:creationId xmlns:p14="http://schemas.microsoft.com/office/powerpoint/2010/main" val="322355832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Think of Git in two layers. Local is your workspace—where you make changes and commits. Remote (GitHub) is where you sync those changes with your team. Git lets you work offline, then push when ready.</a:t>
            </a:r>
          </a:p>
          <a:p>
            <a:endParaRPr lang="en-PH" dirty="0"/>
          </a:p>
        </p:txBody>
      </p:sp>
      <p:sp>
        <p:nvSpPr>
          <p:cNvPr id="4" name="Slide Number Placeholder 3"/>
          <p:cNvSpPr>
            <a:spLocks noGrp="1"/>
          </p:cNvSpPr>
          <p:nvPr>
            <p:ph type="sldNum" sz="quarter" idx="5"/>
          </p:nvPr>
        </p:nvSpPr>
        <p:spPr/>
        <p:txBody>
          <a:bodyPr/>
          <a:lstStyle/>
          <a:p>
            <a:fld id="{AA6290D1-6140-49A7-820A-52936A3EF0C8}" type="slidenum">
              <a:rPr lang="en-PH" smtClean="0"/>
              <a:t>4</a:t>
            </a:fld>
            <a:endParaRPr lang="en-PH"/>
          </a:p>
        </p:txBody>
      </p:sp>
    </p:spTree>
    <p:extLst>
      <p:ext uri="{BB962C8B-B14F-4D97-AF65-F5344CB8AC3E}">
        <p14:creationId xmlns:p14="http://schemas.microsoft.com/office/powerpoint/2010/main" val="109373627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"Let’s create a file and commit it."</a:t>
            </a:r>
          </a:p>
          <a:p>
            <a:endParaRPr lang="en-PH"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echo creates a file. git add stages it. git commit saves it locally with a message.</a:t>
            </a:r>
          </a:p>
          <a:p>
            <a:endParaRPr lang="en-PH" dirty="0"/>
          </a:p>
        </p:txBody>
      </p:sp>
      <p:sp>
        <p:nvSpPr>
          <p:cNvPr id="4" name="Slide Number Placeholder 3"/>
          <p:cNvSpPr>
            <a:spLocks noGrp="1"/>
          </p:cNvSpPr>
          <p:nvPr>
            <p:ph type="sldNum" sz="quarter" idx="5"/>
          </p:nvPr>
        </p:nvSpPr>
        <p:spPr/>
        <p:txBody>
          <a:bodyPr/>
          <a:lstStyle/>
          <a:p>
            <a:fld id="{AA6290D1-6140-49A7-820A-52936A3EF0C8}" type="slidenum">
              <a:rPr lang="en-PH" smtClean="0"/>
              <a:t>5</a:t>
            </a:fld>
            <a:endParaRPr lang="en-PH"/>
          </a:p>
        </p:txBody>
      </p:sp>
    </p:spTree>
    <p:extLst>
      <p:ext uri="{BB962C8B-B14F-4D97-AF65-F5344CB8AC3E}">
        <p14:creationId xmlns:p14="http://schemas.microsoft.com/office/powerpoint/2010/main" val="181055894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To share your work, push it to GitHub.</a:t>
            </a:r>
          </a:p>
          <a:p>
            <a:endParaRPr lang="en-PH"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uploads your local changes to the remote repo on the main branch.</a:t>
            </a:r>
          </a:p>
          <a:p>
            <a:endParaRPr lang="en-PH" dirty="0"/>
          </a:p>
        </p:txBody>
      </p:sp>
      <p:sp>
        <p:nvSpPr>
          <p:cNvPr id="4" name="Slide Number Placeholder 3"/>
          <p:cNvSpPr>
            <a:spLocks noGrp="1"/>
          </p:cNvSpPr>
          <p:nvPr>
            <p:ph type="sldNum" sz="quarter" idx="5"/>
          </p:nvPr>
        </p:nvSpPr>
        <p:spPr/>
        <p:txBody>
          <a:bodyPr/>
          <a:lstStyle/>
          <a:p>
            <a:fld id="{AA6290D1-6140-49A7-820A-52936A3EF0C8}" type="slidenum">
              <a:rPr lang="en-PH" smtClean="0"/>
              <a:t>6</a:t>
            </a:fld>
            <a:endParaRPr lang="en-PH"/>
          </a:p>
        </p:txBody>
      </p:sp>
    </p:spTree>
    <p:extLst>
      <p:ext uri="{BB962C8B-B14F-4D97-AF65-F5344CB8AC3E}">
        <p14:creationId xmlns:p14="http://schemas.microsoft.com/office/powerpoint/2010/main" val="247444596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If teammates made changes, always pull before pushing</a:t>
            </a:r>
          </a:p>
          <a:p>
            <a:endParaRPr lang="en-PH"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Downloads and merges changes from GitHub.</a:t>
            </a:r>
          </a:p>
          <a:p>
            <a:endParaRPr lang="en-PH" dirty="0"/>
          </a:p>
        </p:txBody>
      </p:sp>
      <p:sp>
        <p:nvSpPr>
          <p:cNvPr id="4" name="Slide Number Placeholder 3"/>
          <p:cNvSpPr>
            <a:spLocks noGrp="1"/>
          </p:cNvSpPr>
          <p:nvPr>
            <p:ph type="sldNum" sz="quarter" idx="5"/>
          </p:nvPr>
        </p:nvSpPr>
        <p:spPr/>
        <p:txBody>
          <a:bodyPr/>
          <a:lstStyle/>
          <a:p>
            <a:fld id="{AA6290D1-6140-49A7-820A-52936A3EF0C8}" type="slidenum">
              <a:rPr lang="en-PH" smtClean="0"/>
              <a:t>7</a:t>
            </a:fld>
            <a:endParaRPr lang="en-PH"/>
          </a:p>
        </p:txBody>
      </p:sp>
    </p:spTree>
    <p:extLst>
      <p:ext uri="{BB962C8B-B14F-4D97-AF65-F5344CB8AC3E}">
        <p14:creationId xmlns:p14="http://schemas.microsoft.com/office/powerpoint/2010/main" val="350542057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Branches let us experiment safely without touching main.</a:t>
            </a:r>
          </a:p>
          <a:p>
            <a:endParaRPr lang="en-PH"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Explanation:</a:t>
            </a:r>
            <a:r>
              <a:rPr lang="en-US" dirty="0"/>
              <a:t> Creates a new branch and switches to it.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Explanation:</a:t>
            </a:r>
            <a:r>
              <a:rPr lang="en-US" dirty="0"/>
              <a:t> -a stages modified tracked files. -m adds a message. -u sets tracking so future git push is simpler.</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endParaRPr lang="en-PH" dirty="0"/>
          </a:p>
        </p:txBody>
      </p:sp>
      <p:sp>
        <p:nvSpPr>
          <p:cNvPr id="4" name="Slide Number Placeholder 3"/>
          <p:cNvSpPr>
            <a:spLocks noGrp="1"/>
          </p:cNvSpPr>
          <p:nvPr>
            <p:ph type="sldNum" sz="quarter" idx="5"/>
          </p:nvPr>
        </p:nvSpPr>
        <p:spPr/>
        <p:txBody>
          <a:bodyPr/>
          <a:lstStyle/>
          <a:p>
            <a:fld id="{AA6290D1-6140-49A7-820A-52936A3EF0C8}" type="slidenum">
              <a:rPr lang="en-PH" smtClean="0"/>
              <a:t>8</a:t>
            </a:fld>
            <a:endParaRPr lang="en-PH"/>
          </a:p>
        </p:txBody>
      </p:sp>
    </p:spTree>
    <p:extLst>
      <p:ext uri="{BB962C8B-B14F-4D97-AF65-F5344CB8AC3E}">
        <p14:creationId xmlns:p14="http://schemas.microsoft.com/office/powerpoint/2010/main" val="208152647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Once reviewed, merge your branch into main</a:t>
            </a:r>
          </a:p>
          <a:p>
            <a:endParaRPr lang="en-PH" dirty="0"/>
          </a:p>
        </p:txBody>
      </p:sp>
      <p:sp>
        <p:nvSpPr>
          <p:cNvPr id="4" name="Slide Number Placeholder 3"/>
          <p:cNvSpPr>
            <a:spLocks noGrp="1"/>
          </p:cNvSpPr>
          <p:nvPr>
            <p:ph type="sldNum" sz="quarter" idx="5"/>
          </p:nvPr>
        </p:nvSpPr>
        <p:spPr/>
        <p:txBody>
          <a:bodyPr/>
          <a:lstStyle/>
          <a:p>
            <a:fld id="{AA6290D1-6140-49A7-820A-52936A3EF0C8}" type="slidenum">
              <a:rPr lang="en-PH" smtClean="0"/>
              <a:t>9</a:t>
            </a:fld>
            <a:endParaRPr lang="en-PH"/>
          </a:p>
        </p:txBody>
      </p:sp>
    </p:spTree>
    <p:extLst>
      <p:ext uri="{BB962C8B-B14F-4D97-AF65-F5344CB8AC3E}">
        <p14:creationId xmlns:p14="http://schemas.microsoft.com/office/powerpoint/2010/main" val="321729254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None/>
            </a:pPr>
            <a:r>
              <a:rPr lang="en-US" dirty="0"/>
              <a:t>Accidentally added something? Reset or restore it."</a:t>
            </a:r>
          </a:p>
          <a:p>
            <a:r>
              <a:rPr lang="en-US" dirty="0"/>
              <a:t>git restore filename # or git reset --soft HEAD~1</a:t>
            </a:r>
          </a:p>
          <a:p>
            <a:endParaRPr lang="en-PH"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Explanation:</a:t>
            </a:r>
            <a:r>
              <a:rPr lang="en-US" dirty="0"/>
              <a:t> Restore reverts file changes. Reset undoes the last commit.</a:t>
            </a:r>
          </a:p>
          <a:p>
            <a:endParaRPr lang="en-PH" dirty="0"/>
          </a:p>
        </p:txBody>
      </p:sp>
      <p:sp>
        <p:nvSpPr>
          <p:cNvPr id="4" name="Slide Number Placeholder 3"/>
          <p:cNvSpPr>
            <a:spLocks noGrp="1"/>
          </p:cNvSpPr>
          <p:nvPr>
            <p:ph type="sldNum" sz="quarter" idx="5"/>
          </p:nvPr>
        </p:nvSpPr>
        <p:spPr/>
        <p:txBody>
          <a:bodyPr/>
          <a:lstStyle/>
          <a:p>
            <a:fld id="{AA6290D1-6140-49A7-820A-52936A3EF0C8}" type="slidenum">
              <a:rPr lang="en-PH" smtClean="0"/>
              <a:t>10</a:t>
            </a:fld>
            <a:endParaRPr lang="en-PH"/>
          </a:p>
        </p:txBody>
      </p:sp>
    </p:spTree>
    <p:extLst>
      <p:ext uri="{BB962C8B-B14F-4D97-AF65-F5344CB8AC3E}">
        <p14:creationId xmlns:p14="http://schemas.microsoft.com/office/powerpoint/2010/main" val="221489261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Want to see what changed and when?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Explanation:</a:t>
            </a:r>
            <a:r>
              <a:rPr lang="en-US" dirty="0"/>
              <a:t> Shows the commit history.</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AA6290D1-6140-49A7-820A-52936A3EF0C8}" type="slidenum">
              <a:rPr lang="en-PH" smtClean="0"/>
              <a:t>11</a:t>
            </a:fld>
            <a:endParaRPr lang="en-PH"/>
          </a:p>
        </p:txBody>
      </p:sp>
    </p:spTree>
    <p:extLst>
      <p:ext uri="{BB962C8B-B14F-4D97-AF65-F5344CB8AC3E}">
        <p14:creationId xmlns:p14="http://schemas.microsoft.com/office/powerpoint/2010/main" val="176619027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PH" dirty="0"/>
          </a:p>
        </p:txBody>
      </p:sp>
      <p:sp>
        <p:nvSpPr>
          <p:cNvPr id="4" name="Slide Number Placeholder 3"/>
          <p:cNvSpPr>
            <a:spLocks noGrp="1"/>
          </p:cNvSpPr>
          <p:nvPr>
            <p:ph type="sldNum" sz="quarter" idx="5"/>
          </p:nvPr>
        </p:nvSpPr>
        <p:spPr/>
        <p:txBody>
          <a:bodyPr/>
          <a:lstStyle/>
          <a:p>
            <a:fld id="{AA6290D1-6140-49A7-820A-52936A3EF0C8}" type="slidenum">
              <a:rPr lang="en-PH" smtClean="0"/>
              <a:t>12</a:t>
            </a:fld>
            <a:endParaRPr lang="en-PH"/>
          </a:p>
        </p:txBody>
      </p:sp>
    </p:spTree>
    <p:extLst>
      <p:ext uri="{BB962C8B-B14F-4D97-AF65-F5344CB8AC3E}">
        <p14:creationId xmlns:p14="http://schemas.microsoft.com/office/powerpoint/2010/main" val="158908185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PH" dirty="0"/>
          </a:p>
        </p:txBody>
      </p:sp>
      <p:sp>
        <p:nvSpPr>
          <p:cNvPr id="4" name="Slide Number Placeholder 3"/>
          <p:cNvSpPr>
            <a:spLocks noGrp="1"/>
          </p:cNvSpPr>
          <p:nvPr>
            <p:ph type="sldNum" sz="quarter" idx="5"/>
          </p:nvPr>
        </p:nvSpPr>
        <p:spPr/>
        <p:txBody>
          <a:bodyPr/>
          <a:lstStyle/>
          <a:p>
            <a:fld id="{AA6290D1-6140-49A7-820A-52936A3EF0C8}" type="slidenum">
              <a:rPr lang="en-PH" smtClean="0"/>
              <a:t>13</a:t>
            </a:fld>
            <a:endParaRPr lang="en-PH"/>
          </a:p>
        </p:txBody>
      </p:sp>
    </p:spTree>
    <p:extLst>
      <p:ext uri="{BB962C8B-B14F-4D97-AF65-F5344CB8AC3E}">
        <p14:creationId xmlns:p14="http://schemas.microsoft.com/office/powerpoint/2010/main" val="154403573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Font typeface="Arial" panose="020B0604020202020204" pitchFamily="34" charset="0"/>
              <a:buChar char="•"/>
            </a:pPr>
            <a:r>
              <a:rPr lang="en-US" b="1" dirty="0"/>
              <a:t>How to check branches?</a:t>
            </a:r>
            <a:r>
              <a:rPr lang="en-US" dirty="0"/>
              <a:t> git branch, git branch -r, git branch -a</a:t>
            </a:r>
          </a:p>
          <a:p>
            <a:pPr>
              <a:buFont typeface="Arial" panose="020B0604020202020204" pitchFamily="34" charset="0"/>
              <a:buChar char="•"/>
            </a:pPr>
            <a:r>
              <a:rPr lang="en-US" b="1" dirty="0"/>
              <a:t>What is amend?</a:t>
            </a:r>
            <a:r>
              <a:rPr lang="en-US" dirty="0"/>
              <a:t> git commit --amend lets you fix the last commit.</a:t>
            </a:r>
          </a:p>
          <a:p>
            <a:pPr>
              <a:buFont typeface="Arial" panose="020B0604020202020204" pitchFamily="34" charset="0"/>
              <a:buChar char="•"/>
            </a:pPr>
            <a:r>
              <a:rPr lang="en-US" b="1" dirty="0"/>
              <a:t>What’s .</a:t>
            </a:r>
            <a:r>
              <a:rPr lang="en-US" b="1" dirty="0" err="1"/>
              <a:t>gitignore</a:t>
            </a:r>
            <a:r>
              <a:rPr lang="en-US" b="1" dirty="0"/>
              <a:t>?</a:t>
            </a:r>
            <a:r>
              <a:rPr lang="en-US" dirty="0"/>
              <a:t> File to exclude things like .</a:t>
            </a:r>
            <a:r>
              <a:rPr lang="en-US" dirty="0" err="1"/>
              <a:t>DS_Store</a:t>
            </a:r>
            <a:r>
              <a:rPr lang="en-US" dirty="0"/>
              <a:t>, *.log, temp/</a:t>
            </a:r>
          </a:p>
          <a:p>
            <a:endParaRPr lang="en-PH" dirty="0"/>
          </a:p>
          <a:p>
            <a:endParaRPr lang="en-PH" dirty="0"/>
          </a:p>
        </p:txBody>
      </p:sp>
      <p:sp>
        <p:nvSpPr>
          <p:cNvPr id="4" name="Slide Number Placeholder 3"/>
          <p:cNvSpPr>
            <a:spLocks noGrp="1"/>
          </p:cNvSpPr>
          <p:nvPr>
            <p:ph type="sldNum" sz="quarter" idx="5"/>
          </p:nvPr>
        </p:nvSpPr>
        <p:spPr/>
        <p:txBody>
          <a:bodyPr/>
          <a:lstStyle/>
          <a:p>
            <a:fld id="{AA6290D1-6140-49A7-820A-52936A3EF0C8}" type="slidenum">
              <a:rPr lang="en-PH" smtClean="0"/>
              <a:t>14</a:t>
            </a:fld>
            <a:endParaRPr lang="en-PH"/>
          </a:p>
        </p:txBody>
      </p:sp>
    </p:spTree>
    <p:extLst>
      <p:ext uri="{BB962C8B-B14F-4D97-AF65-F5344CB8AC3E}">
        <p14:creationId xmlns:p14="http://schemas.microsoft.com/office/powerpoint/2010/main" val="71021849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To recap: you clone, create or edit files, commit locally, and push to GitHub. You work in branches to stay safe. Always pull before pushing, and use clear messages."</a:t>
            </a:r>
          </a:p>
          <a:p>
            <a:endParaRPr lang="en-PH" dirty="0"/>
          </a:p>
        </p:txBody>
      </p:sp>
      <p:sp>
        <p:nvSpPr>
          <p:cNvPr id="4" name="Slide Number Placeholder 3"/>
          <p:cNvSpPr>
            <a:spLocks noGrp="1"/>
          </p:cNvSpPr>
          <p:nvPr>
            <p:ph type="sldNum" sz="quarter" idx="5"/>
          </p:nvPr>
        </p:nvSpPr>
        <p:spPr/>
        <p:txBody>
          <a:bodyPr/>
          <a:lstStyle/>
          <a:p>
            <a:fld id="{AA6290D1-6140-49A7-820A-52936A3EF0C8}" type="slidenum">
              <a:rPr lang="en-PH" smtClean="0"/>
              <a:t>16</a:t>
            </a:fld>
            <a:endParaRPr lang="en-PH"/>
          </a:p>
        </p:txBody>
      </p:sp>
    </p:spTree>
    <p:extLst>
      <p:ext uri="{BB962C8B-B14F-4D97-AF65-F5344CB8AC3E}">
        <p14:creationId xmlns:p14="http://schemas.microsoft.com/office/powerpoint/2010/main" val="319629586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5/2/2025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5/2/2025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5/2/2025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5/2/2025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5/2/2025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5/2/2025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5/2/2025</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github.com/DiGiDeoni/2025WorkTraining"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PH" dirty="0"/>
              <a:t>Get Started w/ Git</a:t>
            </a:r>
            <a:endParaRPr dirty="0"/>
          </a:p>
        </p:txBody>
      </p:sp>
      <p:sp>
        <p:nvSpPr>
          <p:cNvPr id="3" name="Subtitle 2"/>
          <p:cNvSpPr>
            <a:spLocks noGrp="1"/>
          </p:cNvSpPr>
          <p:nvPr>
            <p:ph type="subTitle" idx="1"/>
          </p:nvPr>
        </p:nvSpPr>
        <p:spPr/>
        <p:txBody>
          <a:bodyPr/>
          <a:lstStyle/>
          <a:p>
            <a:r>
              <a:rPr dirty="0"/>
              <a:t>Presented by: </a:t>
            </a:r>
            <a:r>
              <a:rPr lang="en-PH" dirty="0"/>
              <a:t>Mykhal Gideoni Mangada</a:t>
            </a:r>
            <a:endParaRPr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Git?</a:t>
            </a:r>
          </a:p>
        </p:txBody>
      </p:sp>
      <p:sp>
        <p:nvSpPr>
          <p:cNvPr id="3" name="Content Placeholder 2"/>
          <p:cNvSpPr>
            <a:spLocks noGrp="1"/>
          </p:cNvSpPr>
          <p:nvPr>
            <p:ph idx="1"/>
          </p:nvPr>
        </p:nvSpPr>
        <p:spPr/>
        <p:txBody>
          <a:bodyPr/>
          <a:lstStyle/>
          <a:p>
            <a:r>
              <a:rPr dirty="0"/>
              <a:t>Track versions of reports/scripts</a:t>
            </a:r>
          </a:p>
          <a:p>
            <a:r>
              <a:rPr dirty="0"/>
              <a:t>Collaborate clearly and efficiently</a:t>
            </a:r>
          </a:p>
          <a:p>
            <a:r>
              <a:rPr dirty="0"/>
              <a:t>Improve auditability and traceability</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Cloning a Repository</a:t>
            </a:r>
          </a:p>
        </p:txBody>
      </p:sp>
      <p:sp>
        <p:nvSpPr>
          <p:cNvPr id="3" name="Content Placeholder 2"/>
          <p:cNvSpPr>
            <a:spLocks noGrp="1"/>
          </p:cNvSpPr>
          <p:nvPr>
            <p:ph idx="1"/>
          </p:nvPr>
        </p:nvSpPr>
        <p:spPr/>
        <p:txBody>
          <a:bodyPr/>
          <a:lstStyle/>
          <a:p>
            <a:r>
              <a:rPr dirty="0"/>
              <a:t>git clone </a:t>
            </a:r>
            <a:r>
              <a:rPr lang="en-PH" dirty="0">
                <a:hlinkClick r:id="rId3"/>
              </a:rPr>
              <a:t>https://github.com/DiGiDeoni/2025WorkTraining</a:t>
            </a:r>
            <a:endParaRPr lang="en-PH" dirty="0"/>
          </a:p>
          <a:p>
            <a:r>
              <a:rPr lang="en-PH" dirty="0"/>
              <a:t>cd </a:t>
            </a:r>
            <a:r>
              <a:rPr lang="en-PH" dirty="0">
                <a:hlinkClick r:id="rId3"/>
              </a:rPr>
              <a:t>2025WorkTraining</a:t>
            </a:r>
            <a:endParaRPr lang="en-PH" dirty="0"/>
          </a:p>
          <a:p>
            <a:endParaRPr lang="en-PH"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Remote vs Local</a:t>
            </a:r>
          </a:p>
        </p:txBody>
      </p:sp>
      <p:sp>
        <p:nvSpPr>
          <p:cNvPr id="3" name="Content Placeholder 2"/>
          <p:cNvSpPr>
            <a:spLocks noGrp="1"/>
          </p:cNvSpPr>
          <p:nvPr>
            <p:ph idx="1"/>
          </p:nvPr>
        </p:nvSpPr>
        <p:spPr/>
        <p:txBody>
          <a:bodyPr/>
          <a:lstStyle/>
          <a:p>
            <a:r>
              <a:t>Local: commit (save), view history, experiment</a:t>
            </a:r>
          </a:p>
          <a:p>
            <a:r>
              <a:t>Remote (GitHub): push, pull, collaborate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Making Your First Change</a:t>
            </a:r>
          </a:p>
        </p:txBody>
      </p:sp>
      <p:sp>
        <p:nvSpPr>
          <p:cNvPr id="3" name="Content Placeholder 2"/>
          <p:cNvSpPr>
            <a:spLocks noGrp="1"/>
          </p:cNvSpPr>
          <p:nvPr>
            <p:ph idx="1"/>
          </p:nvPr>
        </p:nvSpPr>
        <p:spPr/>
        <p:txBody>
          <a:bodyPr/>
          <a:lstStyle/>
          <a:p>
            <a:r>
              <a:rPr dirty="0"/>
              <a:t>echo "Initial notes" &gt; </a:t>
            </a:r>
            <a:r>
              <a:rPr lang="en-PH" dirty="0" err="1"/>
              <a:t>gitStarted.exer</a:t>
            </a:r>
            <a:r>
              <a:rPr lang="en-PH" dirty="0"/>
              <a:t>/</a:t>
            </a:r>
            <a:r>
              <a:rPr dirty="0"/>
              <a:t>findings.txt</a:t>
            </a:r>
          </a:p>
          <a:p>
            <a:r>
              <a:rPr dirty="0"/>
              <a:t>git add </a:t>
            </a:r>
            <a:r>
              <a:rPr lang="en-PH" dirty="0" err="1"/>
              <a:t>gitStarted</a:t>
            </a:r>
            <a:r>
              <a:rPr lang="en-PH" dirty="0"/>
              <a:t>/</a:t>
            </a:r>
            <a:r>
              <a:rPr lang="en-PH" dirty="0" err="1"/>
              <a:t>exer</a:t>
            </a:r>
            <a:r>
              <a:rPr lang="en-PH" dirty="0"/>
              <a:t>/</a:t>
            </a:r>
            <a:r>
              <a:rPr dirty="0"/>
              <a:t>findings.txt</a:t>
            </a:r>
          </a:p>
          <a:p>
            <a:r>
              <a:rPr dirty="0"/>
              <a:t>git commit -m "Add initial findings notes"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Pushing Your Changes</a:t>
            </a:r>
          </a:p>
        </p:txBody>
      </p:sp>
      <p:sp>
        <p:nvSpPr>
          <p:cNvPr id="3" name="Content Placeholder 2"/>
          <p:cNvSpPr>
            <a:spLocks noGrp="1"/>
          </p:cNvSpPr>
          <p:nvPr>
            <p:ph idx="1"/>
          </p:nvPr>
        </p:nvSpPr>
        <p:spPr/>
        <p:txBody>
          <a:bodyPr/>
          <a:lstStyle/>
          <a:p>
            <a:r>
              <a:t>git push origin main</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Pulling Updates from GitHub</a:t>
            </a:r>
          </a:p>
        </p:txBody>
      </p:sp>
      <p:sp>
        <p:nvSpPr>
          <p:cNvPr id="3" name="Content Placeholder 2"/>
          <p:cNvSpPr>
            <a:spLocks noGrp="1"/>
          </p:cNvSpPr>
          <p:nvPr>
            <p:ph idx="1"/>
          </p:nvPr>
        </p:nvSpPr>
        <p:spPr/>
        <p:txBody>
          <a:bodyPr/>
          <a:lstStyle/>
          <a:p>
            <a:r>
              <a:t>git pull origin main</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Create and Use a Branch</a:t>
            </a:r>
          </a:p>
        </p:txBody>
      </p:sp>
      <p:sp>
        <p:nvSpPr>
          <p:cNvPr id="3" name="Content Placeholder 2"/>
          <p:cNvSpPr>
            <a:spLocks noGrp="1"/>
          </p:cNvSpPr>
          <p:nvPr>
            <p:ph idx="1"/>
          </p:nvPr>
        </p:nvSpPr>
        <p:spPr/>
        <p:txBody>
          <a:bodyPr/>
          <a:lstStyle/>
          <a:p>
            <a:r>
              <a:t>git checkout -b update-query</a:t>
            </a:r>
          </a:p>
          <a:p>
            <a:r>
              <a:t># Make edits</a:t>
            </a:r>
          </a:p>
          <a:p>
            <a:r>
              <a:t>git commit -am "Improve logic in monthly query"</a:t>
            </a:r>
          </a:p>
          <a:p>
            <a:r>
              <a:t>git push origin update-query</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Merging a Branch</a:t>
            </a:r>
          </a:p>
        </p:txBody>
      </p:sp>
      <p:sp>
        <p:nvSpPr>
          <p:cNvPr id="3" name="Content Placeholder 2"/>
          <p:cNvSpPr>
            <a:spLocks noGrp="1"/>
          </p:cNvSpPr>
          <p:nvPr>
            <p:ph idx="1"/>
          </p:nvPr>
        </p:nvSpPr>
        <p:spPr/>
        <p:txBody>
          <a:bodyPr/>
          <a:lstStyle/>
          <a:p>
            <a:r>
              <a:t>git checkout main</a:t>
            </a:r>
          </a:p>
          <a:p>
            <a:r>
              <a:t>git pull</a:t>
            </a:r>
          </a:p>
          <a:p>
            <a:r>
              <a:t>git merge update-query</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Undoing Mistakes</a:t>
            </a:r>
          </a:p>
        </p:txBody>
      </p:sp>
      <p:sp>
        <p:nvSpPr>
          <p:cNvPr id="3" name="Content Placeholder 2"/>
          <p:cNvSpPr>
            <a:spLocks noGrp="1"/>
          </p:cNvSpPr>
          <p:nvPr>
            <p:ph idx="1"/>
          </p:nvPr>
        </p:nvSpPr>
        <p:spPr/>
        <p:txBody>
          <a:bodyPr/>
          <a:lstStyle/>
          <a:p>
            <a:r>
              <a:t>git restore filename</a:t>
            </a:r>
          </a:p>
          <a:p>
            <a:r>
              <a:t># OR</a:t>
            </a:r>
          </a:p>
          <a:p>
            <a:r>
              <a:t>git reset --soft HEAD~1</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View History</a:t>
            </a:r>
          </a:p>
        </p:txBody>
      </p:sp>
      <p:sp>
        <p:nvSpPr>
          <p:cNvPr id="3" name="Content Placeholder 2"/>
          <p:cNvSpPr>
            <a:spLocks noGrp="1"/>
          </p:cNvSpPr>
          <p:nvPr>
            <p:ph idx="1"/>
          </p:nvPr>
        </p:nvSpPr>
        <p:spPr/>
        <p:txBody>
          <a:bodyPr/>
          <a:lstStyle/>
          <a:p>
            <a:r>
              <a:t>git log</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Add vs Commit vs Push</a:t>
            </a:r>
          </a:p>
        </p:txBody>
      </p:sp>
      <p:sp>
        <p:nvSpPr>
          <p:cNvPr id="3" name="Content Placeholder 2"/>
          <p:cNvSpPr>
            <a:spLocks noGrp="1"/>
          </p:cNvSpPr>
          <p:nvPr>
            <p:ph idx="1"/>
          </p:nvPr>
        </p:nvSpPr>
        <p:spPr/>
        <p:txBody>
          <a:bodyPr/>
          <a:lstStyle/>
          <a:p>
            <a:r>
              <a:rPr dirty="0"/>
              <a:t>add: stage changes</a:t>
            </a:r>
          </a:p>
          <a:p>
            <a:r>
              <a:rPr dirty="0"/>
              <a:t>commit: save changes locally</a:t>
            </a:r>
          </a:p>
          <a:p>
            <a:r>
              <a:rPr dirty="0"/>
              <a:t>push: upload to GitHub</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Things to Know</a:t>
            </a:r>
          </a:p>
        </p:txBody>
      </p:sp>
      <p:sp>
        <p:nvSpPr>
          <p:cNvPr id="3" name="Content Placeholder 2"/>
          <p:cNvSpPr>
            <a:spLocks noGrp="1"/>
          </p:cNvSpPr>
          <p:nvPr>
            <p:ph idx="1"/>
          </p:nvPr>
        </p:nvSpPr>
        <p:spPr/>
        <p:txBody>
          <a:bodyPr/>
          <a:lstStyle/>
          <a:p>
            <a:r>
              <a:rPr dirty="0"/>
              <a:t>No coding required</a:t>
            </a:r>
          </a:p>
          <a:p>
            <a:r>
              <a:rPr dirty="0"/>
              <a:t>Use clear commit messages</a:t>
            </a:r>
          </a:p>
          <a:p>
            <a:r>
              <a:rPr dirty="0"/>
              <a:t>Track only useful files</a:t>
            </a:r>
          </a:p>
          <a:p>
            <a:r>
              <a:rPr dirty="0"/>
              <a:t>Use branches for safety</a:t>
            </a:r>
          </a:p>
          <a:p>
            <a:r>
              <a:rPr dirty="0"/>
              <a:t>Pull before push</a:t>
            </a:r>
          </a:p>
          <a:p>
            <a:r>
              <a:rPr dirty="0"/>
              <a:t>Conflicts are normal</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More FAQs</a:t>
            </a:r>
          </a:p>
        </p:txBody>
      </p:sp>
      <p:sp>
        <p:nvSpPr>
          <p:cNvPr id="3" name="Content Placeholder 2"/>
          <p:cNvSpPr>
            <a:spLocks noGrp="1"/>
          </p:cNvSpPr>
          <p:nvPr>
            <p:ph idx="1"/>
          </p:nvPr>
        </p:nvSpPr>
        <p:spPr/>
        <p:txBody>
          <a:bodyPr/>
          <a:lstStyle/>
          <a:p>
            <a:r>
              <a:rPr dirty="0"/>
              <a:t>What's .</a:t>
            </a:r>
            <a:r>
              <a:rPr dirty="0" err="1"/>
              <a:t>gitignore</a:t>
            </a:r>
            <a:r>
              <a:rPr dirty="0"/>
              <a:t>? Skips tracking files</a:t>
            </a:r>
          </a:p>
          <a:p>
            <a:r>
              <a:rPr dirty="0"/>
              <a:t>Missed a file in commit? Use git commit --amend</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Summary</a:t>
            </a:r>
          </a:p>
        </p:txBody>
      </p:sp>
      <p:sp>
        <p:nvSpPr>
          <p:cNvPr id="3" name="Content Placeholder 2"/>
          <p:cNvSpPr>
            <a:spLocks noGrp="1"/>
          </p:cNvSpPr>
          <p:nvPr>
            <p:ph idx="1"/>
          </p:nvPr>
        </p:nvSpPr>
        <p:spPr/>
        <p:txBody>
          <a:bodyPr/>
          <a:lstStyle/>
          <a:p>
            <a:r>
              <a:rPr dirty="0"/>
              <a:t>Clone → Work → Commit → Push → Repeat</a:t>
            </a:r>
          </a:p>
          <a:p>
            <a:r>
              <a:rPr dirty="0"/>
              <a:t>Git tracks changes</a:t>
            </a:r>
          </a:p>
          <a:p>
            <a:r>
              <a:rPr dirty="0"/>
              <a:t>GitHub enables teamwork</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Q&amp;A</a:t>
            </a:r>
          </a:p>
        </p:txBody>
      </p:sp>
      <p:sp>
        <p:nvSpPr>
          <p:cNvPr id="3" name="Content Placeholder 2"/>
          <p:cNvSpPr>
            <a:spLocks noGrp="1"/>
          </p:cNvSpPr>
          <p:nvPr>
            <p:ph idx="1"/>
          </p:nvPr>
        </p:nvSpPr>
        <p:spPr/>
        <p:txBody>
          <a:bodyPr/>
          <a:lstStyle/>
          <a:p>
            <a:r>
              <a:t>Open discussion, review commands, demo scenarios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35</TotalTime>
  <Words>911</Words>
  <Application>Microsoft Office PowerPoint</Application>
  <PresentationFormat>On-screen Show (4:3)</PresentationFormat>
  <Paragraphs>117</Paragraphs>
  <Slides>16</Slides>
  <Notes>15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16</vt:i4>
      </vt:variant>
    </vt:vector>
  </HeadingPairs>
  <TitlesOfParts>
    <vt:vector size="20" baseType="lpstr">
      <vt:lpstr>Aptos</vt:lpstr>
      <vt:lpstr>Arial</vt:lpstr>
      <vt:lpstr>Calibri</vt:lpstr>
      <vt:lpstr>Office Theme</vt:lpstr>
      <vt:lpstr>Get Started w/ Git</vt:lpstr>
      <vt:lpstr>Why Git?</vt:lpstr>
      <vt:lpstr>Cloning a Repository</vt:lpstr>
      <vt:lpstr>Remote vs Local</vt:lpstr>
      <vt:lpstr>Making Your First Change</vt:lpstr>
      <vt:lpstr>Pushing Your Changes</vt:lpstr>
      <vt:lpstr>Pulling Updates from GitHub</vt:lpstr>
      <vt:lpstr>Create and Use a Branch</vt:lpstr>
      <vt:lpstr>Merging a Branch</vt:lpstr>
      <vt:lpstr>Undoing Mistakes</vt:lpstr>
      <vt:lpstr>View History</vt:lpstr>
      <vt:lpstr>Add vs Commit vs Push</vt:lpstr>
      <vt:lpstr>Things to Know</vt:lpstr>
      <vt:lpstr>More FAQs</vt:lpstr>
      <vt:lpstr>Summary</vt:lpstr>
      <vt:lpstr>Q&amp;A</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Mykhal Mangada</cp:lastModifiedBy>
  <cp:revision>3</cp:revision>
  <dcterms:created xsi:type="dcterms:W3CDTF">2013-01-27T09:14:16Z</dcterms:created>
  <dcterms:modified xsi:type="dcterms:W3CDTF">2025-05-02T05:06:22Z</dcterms:modified>
  <cp:category/>
</cp:coreProperties>
</file>